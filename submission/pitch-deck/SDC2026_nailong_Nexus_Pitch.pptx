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Minutes per request</c:v>
          </c:tx>
          <c:spPr>
            <a:solidFill>
              <a:srgbClr val="0071E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172132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Manual estimate</c:v>
                </c:pt>
                <c:pt idx="1">
                  <c:v>Phase 2 target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9D-334D-9EBF-7648BB1146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DFE7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1259A4B-A740-42C1-B216-6193C6F3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F8387E2-C873-446C-A972-83F4BDDD3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C1DDEC-6282-4987-B92F-028C8491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320CDF0-0A6F-464C-B962-CF754D91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E1DFDF2-C948-436A-BF1C-49AB422E4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17D52BE-C892-42EF-90A1-05A73177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967D941-4A38-4006-834D-04C902343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9B2A85-C6F3-4B4C-BA5B-4AADDDA963C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6D0822E-D4D1-4164-BE7D-9F228B1F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3C0B0F-B772-4D38-8E81-17846E253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B917084-C219-4BFC-A0B3-3C75730BB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Nexus">
            <a:extLst>
              <a:ext uri="{FF2B5EF4-FFF2-40B4-BE49-F238E27FC236}">
                <a16:creationId xmlns:a16="http://schemas.microsoft.com/office/drawing/2014/main" id="{1D266757-6608-4323-A18F-8FF0DB742952}"/>
              </a:ext>
            </a:extLst>
          </p:cNvPr>
          <p:cNvSpPr>
            <a:spLocks noGrp="1"/>
          </p:cNvSpPr>
          <p:nvPr/>
        </p:nvSpPr>
        <p:spPr>
          <a:xfrm>
            <a:off x="666750" y="1704975"/>
            <a:ext cx="5905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8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Nexus</a:t>
            </a:r>
          </a:p>
        </p:txBody>
      </p:sp>
      <p:sp>
        <p:nvSpPr>
          <p:cNvPr id="3" name="From customer message&#10;to accountable action.">
            <a:extLst>
              <a:ext uri="{FF2B5EF4-FFF2-40B4-BE49-F238E27FC236}">
                <a16:creationId xmlns:a16="http://schemas.microsoft.com/office/drawing/2014/main" id="{A8F03388-00B5-424E-BA67-E5DC9F106C57}"/>
              </a:ext>
            </a:extLst>
          </p:cNvPr>
          <p:cNvSpPr>
            <a:spLocks noGrp="1"/>
          </p:cNvSpPr>
          <p:nvPr/>
        </p:nvSpPr>
        <p:spPr>
          <a:xfrm>
            <a:off x="714375" y="3114675"/>
            <a:ext cx="57150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From customer message</a:t>
            </a:r>
          </a:p>
          <a:p>
            <a:pPr>
              <a:defRPr sz="33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to accountable action.</a:t>
            </a:r>
          </a:p>
        </p:txBody>
      </p:sp>
      <p:sp>
        <p:nvSpPr>
          <p:cNvPr id="4" name="Automation for small teams.&#10;People stay in control.">
            <a:extLst>
              <a:ext uri="{FF2B5EF4-FFF2-40B4-BE49-F238E27FC236}">
                <a16:creationId xmlns:a16="http://schemas.microsoft.com/office/drawing/2014/main" id="{BB677385-109D-4BAC-9316-B6B8BEBEB560}"/>
              </a:ext>
            </a:extLst>
          </p:cNvPr>
          <p:cNvSpPr>
            <a:spLocks noGrp="1"/>
          </p:cNvSpPr>
          <p:nvPr/>
        </p:nvSpPr>
        <p:spPr>
          <a:xfrm>
            <a:off x="733425" y="4667250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Automation for small teams.</a:t>
            </a:r>
          </a:p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People stay in control.</a:t>
            </a:r>
          </a:p>
        </p:txBody>
      </p:sp>
      <p:sp>
        <p:nvSpPr>
          <p:cNvPr id="5" name="TEAM NAILONG  ·  SDC 2026  ·  DOMAIN 2">
            <a:extLst>
              <a:ext uri="{FF2B5EF4-FFF2-40B4-BE49-F238E27FC236}">
                <a16:creationId xmlns:a16="http://schemas.microsoft.com/office/drawing/2014/main" id="{EA528FF6-25F0-42FA-B61F-82C75CE6CE35}"/>
              </a:ext>
            </a:extLst>
          </p:cNvPr>
          <p:cNvSpPr>
            <a:spLocks noGrp="1"/>
          </p:cNvSpPr>
          <p:nvPr/>
        </p:nvSpPr>
        <p:spPr>
          <a:xfrm>
            <a:off x="733425" y="6076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B7E"/>
                </a:solidFill>
                <a:latin typeface="Arial"/>
                <a:ea typeface="Arial"/>
                <a:cs typeface="Arial"/>
              </a:rPr>
              <a:t>TEAM NAILONG  ·  SDC 2026  ·  DOMAIN 2</a:t>
            </a:r>
          </a:p>
        </p:txBody>
      </p:sp>
    </p:spTree>
    <p:extLst>
      <p:ext uri="{BB962C8B-B14F-4D97-AF65-F5344CB8AC3E}">
        <p14:creationId xmlns:p14="http://schemas.microsoft.com/office/powerpoint/2010/main" val="5127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he work between the messages.">
            <a:extLst>
              <a:ext uri="{FF2B5EF4-FFF2-40B4-BE49-F238E27FC236}">
                <a16:creationId xmlns:a16="http://schemas.microsoft.com/office/drawing/2014/main" id="{A1FF83E9-FBEC-404C-94BC-C0D0A727B2A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The work between the messages.</a:t>
            </a:r>
          </a:p>
        </p:txBody>
      </p:sp>
      <p:sp>
        <p:nvSpPr>
          <p:cNvPr id="2" name="A customer asks. Someone must connect all the missing contex">
            <a:extLst>
              <a:ext uri="{FF2B5EF4-FFF2-40B4-BE49-F238E27FC236}">
                <a16:creationId xmlns:a16="http://schemas.microsoft.com/office/drawing/2014/main" id="{515DAF88-C041-4BC0-A487-385626A7866A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 customer asks. Someone must connect all the missing context.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C2DC2DE6-9656-4FC4-AC5A-19B027811842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7FB45EC9-150E-45DA-97FC-1E5881557FE5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Understand the request">
            <a:extLst>
              <a:ext uri="{FF2B5EF4-FFF2-40B4-BE49-F238E27FC236}">
                <a16:creationId xmlns:a16="http://schemas.microsoft.com/office/drawing/2014/main" id="{C0DCC1A1-021D-4E02-BFBE-6C6DB08C776A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Understand the request</a:t>
            </a:r>
          </a:p>
        </p:txBody>
      </p:sp>
      <p:sp>
        <p:nvSpPr>
          <p:cNvPr id="6" name="Read the message. Re-enter quantity, deadline and customer d">
            <a:extLst>
              <a:ext uri="{FF2B5EF4-FFF2-40B4-BE49-F238E27FC236}">
                <a16:creationId xmlns:a16="http://schemas.microsoft.com/office/drawing/2014/main" id="{47C64B64-9F91-48F6-A2C7-CDA5D72CFB85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3143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Read the message. Re-enter quantity, deadline and customer details.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2317313D-52B5-40D8-956C-9B4B41CF8DE6}"/>
              </a:ext>
            </a:extLst>
          </p:cNvPr>
          <p:cNvSpPr>
            <a:spLocks noGrp="1"/>
          </p:cNvSpPr>
          <p:nvPr/>
        </p:nvSpPr>
        <p:spPr>
          <a:xfrm>
            <a:off x="4429125" y="238125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heck what is possible">
            <a:extLst>
              <a:ext uri="{FF2B5EF4-FFF2-40B4-BE49-F238E27FC236}">
                <a16:creationId xmlns:a16="http://schemas.microsoft.com/office/drawing/2014/main" id="{D494A078-735A-4CE9-B572-503F9A14420F}"/>
              </a:ext>
            </a:extLst>
          </p:cNvPr>
          <p:cNvSpPr>
            <a:spLocks noGrp="1"/>
          </p:cNvSpPr>
          <p:nvPr/>
        </p:nvSpPr>
        <p:spPr>
          <a:xfrm>
            <a:off x="4429125" y="2819400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Check what is possible</a:t>
            </a:r>
          </a:p>
        </p:txBody>
      </p:sp>
      <p:sp>
        <p:nvSpPr>
          <p:cNvPr id="9" name="Compare stock, staff capacity, skills and approved leave.">
            <a:extLst>
              <a:ext uri="{FF2B5EF4-FFF2-40B4-BE49-F238E27FC236}">
                <a16:creationId xmlns:a16="http://schemas.microsoft.com/office/drawing/2014/main" id="{A2494DB2-0EBA-4E48-852E-ED01A35154F8}"/>
              </a:ext>
            </a:extLst>
          </p:cNvPr>
          <p:cNvSpPr>
            <a:spLocks noGrp="1"/>
          </p:cNvSpPr>
          <p:nvPr/>
        </p:nvSpPr>
        <p:spPr>
          <a:xfrm>
            <a:off x="4429125" y="3705225"/>
            <a:ext cx="3143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Compare stock, staff capacity, skills and approved leave.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743A68C0-981E-4485-ADF9-B9D28FCFD200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Keep the handoff moving">
            <a:extLst>
              <a:ext uri="{FF2B5EF4-FFF2-40B4-BE49-F238E27FC236}">
                <a16:creationId xmlns:a16="http://schemas.microsoft.com/office/drawing/2014/main" id="{29A5D592-CC26-42B2-879D-46FB5EEFE5BC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Keep the handoff moving</a:t>
            </a:r>
          </a:p>
        </p:txBody>
      </p:sp>
      <p:sp>
        <p:nvSpPr>
          <p:cNvPr id="12" name="Find an approver, assign an owner and chase the next update.">
            <a:extLst>
              <a:ext uri="{FF2B5EF4-FFF2-40B4-BE49-F238E27FC236}">
                <a16:creationId xmlns:a16="http://schemas.microsoft.com/office/drawing/2014/main" id="{E8DE8E41-70B1-4AD2-B344-1F03DCEA497A}"/>
              </a:ext>
            </a:extLst>
          </p:cNvPr>
          <p:cNvSpPr>
            <a:spLocks noGrp="1"/>
          </p:cNvSpPr>
          <p:nvPr/>
        </p:nvSpPr>
        <p:spPr>
          <a:xfrm>
            <a:off x="8191500" y="3705225"/>
            <a:ext cx="3143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Find an approver, assign an owner and chase the next update.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F107B1-CA36-47DF-A7BF-EE2F3370FD6B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4" name="Initial focus: 5–20-person Malaysian print and custom-gift t">
            <a:extLst>
              <a:ext uri="{FF2B5EF4-FFF2-40B4-BE49-F238E27FC236}">
                <a16:creationId xmlns:a16="http://schemas.microsoft.com/office/drawing/2014/main" id="{AC89F987-D636-46F7-91F6-A6F1A2992599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Initial focus: 5–20-person Malaysian print and custom-gift teams.</a:t>
            </a:r>
          </a:p>
        </p:txBody>
      </p:sp>
      <p:sp>
        <p:nvSpPr>
          <p:cNvPr id="15" name="Target-user hypothesis; field interviews and timing studies ">
            <a:extLst>
              <a:ext uri="{FF2B5EF4-FFF2-40B4-BE49-F238E27FC236}">
                <a16:creationId xmlns:a16="http://schemas.microsoft.com/office/drawing/2014/main" id="{7E6BECFB-1569-4E96-A2F0-C312A85F63B0}"/>
              </a:ext>
            </a:extLst>
          </p:cNvPr>
          <p:cNvSpPr>
            <a:spLocks noGrp="1"/>
          </p:cNvSpPr>
          <p:nvPr/>
        </p:nvSpPr>
        <p:spPr>
          <a:xfrm>
            <a:off x="666750" y="60388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Target-user hypothesis; field interviews and timing studies are planned.</a:t>
            </a:r>
          </a:p>
        </p:txBody>
      </p:sp>
    </p:spTree>
    <p:extLst>
      <p:ext uri="{BB962C8B-B14F-4D97-AF65-F5344CB8AC3E}">
        <p14:creationId xmlns:p14="http://schemas.microsoft.com/office/powerpoint/2010/main" val="180297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 simple order. An avoidable promise.">
            <a:extLst>
              <a:ext uri="{FF2B5EF4-FFF2-40B4-BE49-F238E27FC236}">
                <a16:creationId xmlns:a16="http://schemas.microsoft.com/office/drawing/2014/main" id="{4F46A060-F8A5-42CF-830C-5A6F992C154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A simple order. An avoidable promise.</a:t>
            </a:r>
          </a:p>
        </p:txBody>
      </p:sp>
      <p:sp>
        <p:nvSpPr>
          <p:cNvPr id="2" name="Synthetic demonstration: Bunga Café requests 100 custom cups">
            <a:extLst>
              <a:ext uri="{FF2B5EF4-FFF2-40B4-BE49-F238E27FC236}">
                <a16:creationId xmlns:a16="http://schemas.microsoft.com/office/drawing/2014/main" id="{AE26BD4C-2B99-4301-877B-6FF7FAF8C9D5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Synthetic demonstration: Bunga Café requests 100 custom cups by 26 October.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E391C3C0-163F-4015-A7B4-84D6622FCF7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100">
            <a:extLst>
              <a:ext uri="{FF2B5EF4-FFF2-40B4-BE49-F238E27FC236}">
                <a16:creationId xmlns:a16="http://schemas.microsoft.com/office/drawing/2014/main" id="{1F538505-E700-4FB4-86F3-94AA214FF086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857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" name="cups requested">
            <a:extLst>
              <a:ext uri="{FF2B5EF4-FFF2-40B4-BE49-F238E27FC236}">
                <a16:creationId xmlns:a16="http://schemas.microsoft.com/office/drawing/2014/main" id="{901EA910-F8AF-427E-997E-9348D8B0237E}"/>
              </a:ext>
            </a:extLst>
          </p:cNvPr>
          <p:cNvSpPr>
            <a:spLocks noGrp="1"/>
          </p:cNvSpPr>
          <p:nvPr/>
        </p:nvSpPr>
        <p:spPr>
          <a:xfrm>
            <a:off x="666750" y="38957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cups requested</a:t>
            </a:r>
          </a:p>
        </p:txBody>
      </p:sp>
      <p:sp>
        <p:nvSpPr>
          <p:cNvPr id="6" name="80">
            <a:extLst>
              <a:ext uri="{FF2B5EF4-FFF2-40B4-BE49-F238E27FC236}">
                <a16:creationId xmlns:a16="http://schemas.microsoft.com/office/drawing/2014/main" id="{05902111-F153-49A3-ABD0-62745A059442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2857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" name="cups in stock">
            <a:extLst>
              <a:ext uri="{FF2B5EF4-FFF2-40B4-BE49-F238E27FC236}">
                <a16:creationId xmlns:a16="http://schemas.microsoft.com/office/drawing/2014/main" id="{E91861DE-C0C9-4CBB-B3DD-68EF396D2EA5}"/>
              </a:ext>
            </a:extLst>
          </p:cNvPr>
          <p:cNvSpPr>
            <a:spLocks noGrp="1"/>
          </p:cNvSpPr>
          <p:nvPr/>
        </p:nvSpPr>
        <p:spPr>
          <a:xfrm>
            <a:off x="4476750" y="38957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cups in stock</a:t>
            </a:r>
          </a:p>
        </p:txBody>
      </p:sp>
      <p:sp>
        <p:nvSpPr>
          <p:cNvPr id="8" name="20">
            <a:extLst>
              <a:ext uri="{FF2B5EF4-FFF2-40B4-BE49-F238E27FC236}">
                <a16:creationId xmlns:a16="http://schemas.microsoft.com/office/drawing/2014/main" id="{64BBB708-F9B5-4B72-8D93-0C158A3CFBD4}"/>
              </a:ext>
            </a:extLst>
          </p:cNvPr>
          <p:cNvSpPr>
            <a:spLocks noGrp="1"/>
          </p:cNvSpPr>
          <p:nvPr/>
        </p:nvSpPr>
        <p:spPr>
          <a:xfrm>
            <a:off x="8286750" y="2571750"/>
            <a:ext cx="2857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10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9C601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cups short">
            <a:extLst>
              <a:ext uri="{FF2B5EF4-FFF2-40B4-BE49-F238E27FC236}">
                <a16:creationId xmlns:a16="http://schemas.microsoft.com/office/drawing/2014/main" id="{DCF7F23D-A717-4DDD-9FF3-111F98E418E4}"/>
              </a:ext>
            </a:extLst>
          </p:cNvPr>
          <p:cNvSpPr>
            <a:spLocks noGrp="1"/>
          </p:cNvSpPr>
          <p:nvPr/>
        </p:nvSpPr>
        <p:spPr>
          <a:xfrm>
            <a:off x="8286750" y="38957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cups short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4510F4-CF7A-4427-84DD-5E1943BA2AA7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1" name="Restock first. Check availability. Confirm with a person.">
            <a:extLst>
              <a:ext uri="{FF2B5EF4-FFF2-40B4-BE49-F238E27FC236}">
                <a16:creationId xmlns:a16="http://schemas.microsoft.com/office/drawing/2014/main" id="{AD0BF044-965C-4A32-A4B3-9140430A714C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668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Restock first. Check availability. Confirm with a person.</a:t>
            </a:r>
          </a:p>
        </p:txBody>
      </p:sp>
      <p:sp>
        <p:nvSpPr>
          <p:cNvPr id="12" name="Nexus shows the constraint before a delivery date or quotati">
            <a:extLst>
              <a:ext uri="{FF2B5EF4-FFF2-40B4-BE49-F238E27FC236}">
                <a16:creationId xmlns:a16="http://schemas.microsoft.com/office/drawing/2014/main" id="{FAFD5D17-D5B9-4A44-BDE1-32E4951EB63F}"/>
              </a:ext>
            </a:extLst>
          </p:cNvPr>
          <p:cNvSpPr>
            <a:spLocks noGrp="1"/>
          </p:cNvSpPr>
          <p:nvPr/>
        </p:nvSpPr>
        <p:spPr>
          <a:xfrm>
            <a:off x="666750" y="6010275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Nexus shows the constraint before a delivery date or quotation is promised.</a:t>
            </a:r>
          </a:p>
        </p:txBody>
      </p:sp>
    </p:spTree>
    <p:extLst>
      <p:ext uri="{BB962C8B-B14F-4D97-AF65-F5344CB8AC3E}">
        <p14:creationId xmlns:p14="http://schemas.microsoft.com/office/powerpoint/2010/main" val="178149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3634178-B360-4A61-8EB8-B4A0A416F74C}"/>
              </a:ext>
            </a:extLst>
          </p:cNvPr>
          <p:cNvCxnSpPr>
            <a:stCxn id="18" idx="1"/>
            <a:endCxn id="15" idx="3"/>
          </p:cNvCxnSpPr>
          <p:nvPr/>
        </p:nvCxnSpPr>
        <p:spPr>
          <a:xfrm flipH="1">
            <a:off x="3857625" y="494347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61252627-6D41-4F9C-B53F-96ADBA240E01}"/>
              </a:ext>
            </a:extLst>
          </p:cNvPr>
          <p:cNvCxnSpPr>
            <a:stCxn id="21" idx="1"/>
            <a:endCxn id="18" idx="3"/>
          </p:cNvCxnSpPr>
          <p:nvPr/>
        </p:nvCxnSpPr>
        <p:spPr>
          <a:xfrm flipH="1">
            <a:off x="7686675" y="494347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8E2660FE-7C75-4532-A684-82123E52BAE3}"/>
              </a:ext>
            </a:extLst>
          </p:cNvPr>
          <p:cNvCxnSpPr>
            <a:stCxn id="10" idx="2"/>
            <a:endCxn id="21" idx="0"/>
          </p:cNvCxnSpPr>
          <p:nvPr/>
        </p:nvCxnSpPr>
        <p:spPr>
          <a:xfrm>
            <a:off x="9920288" y="3552825"/>
            <a:ext cx="0" cy="87630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705A534-1742-441B-B048-DE77546A3B5A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7686675" y="303847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1F86682-49A1-4A51-873F-630E5E8838E6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857625" y="303847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sp>
        <p:nvSpPr>
          <p:cNvPr id="28" name="One request. A traceable handoff.">
            <a:extLst>
              <a:ext uri="{FF2B5EF4-FFF2-40B4-BE49-F238E27FC236}">
                <a16:creationId xmlns:a16="http://schemas.microsoft.com/office/drawing/2014/main" id="{C58DD30C-3FFD-4008-8EA4-FC56EEAD304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One request. A traceable handoff.</a:t>
            </a:r>
          </a:p>
        </p:txBody>
      </p:sp>
      <p:sp>
        <p:nvSpPr>
          <p:cNvPr id="2" name="Automate the preparation. Make the decision explicit.">
            <a:extLst>
              <a:ext uri="{FF2B5EF4-FFF2-40B4-BE49-F238E27FC236}">
                <a16:creationId xmlns:a16="http://schemas.microsoft.com/office/drawing/2014/main" id="{0D22F25D-0EF4-4EFF-8ED3-BB7140D95DEC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Automate the preparation. Make the decision explicit.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92577A37-6DEF-4F41-81E0-1633DF8FAC9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1E1247-7D48-4645-87ED-CEA64F219684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5" name="Customer message">
            <a:extLst>
              <a:ext uri="{FF2B5EF4-FFF2-40B4-BE49-F238E27FC236}">
                <a16:creationId xmlns:a16="http://schemas.microsoft.com/office/drawing/2014/main" id="{7FB51DFE-158F-4785-B02F-F38A92B1EFC4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Customer message</a:t>
            </a:r>
          </a:p>
        </p:txBody>
      </p:sp>
      <p:sp>
        <p:nvSpPr>
          <p:cNvPr id="6" name="In-app conversation">
            <a:extLst>
              <a:ext uri="{FF2B5EF4-FFF2-40B4-BE49-F238E27FC236}">
                <a16:creationId xmlns:a16="http://schemas.microsoft.com/office/drawing/2014/main" id="{99281945-9CD9-47FB-9BB8-C6A88F3E18C2}"/>
              </a:ext>
            </a:extLst>
          </p:cNvPr>
          <p:cNvSpPr>
            <a:spLocks noGrp="1"/>
          </p:cNvSpPr>
          <p:nvPr/>
        </p:nvSpPr>
        <p:spPr>
          <a:xfrm>
            <a:off x="838200" y="3076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In-app conversation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128DEA-276B-45AE-B1E4-6EBE03C00A77}"/>
              </a:ext>
            </a:extLst>
          </p:cNvPr>
          <p:cNvSpPr>
            <a:spLocks noGrp="1"/>
          </p:cNvSpPr>
          <p:nvPr/>
        </p:nvSpPr>
        <p:spPr>
          <a:xfrm>
            <a:off x="4495800" y="252412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8" name="Support prepares">
            <a:extLst>
              <a:ext uri="{FF2B5EF4-FFF2-40B4-BE49-F238E27FC236}">
                <a16:creationId xmlns:a16="http://schemas.microsoft.com/office/drawing/2014/main" id="{D24F3FBB-9A0B-40C5-AB5A-2BB612520A44}"/>
              </a:ext>
            </a:extLst>
          </p:cNvPr>
          <p:cNvSpPr>
            <a:spLocks noGrp="1"/>
          </p:cNvSpPr>
          <p:nvPr/>
        </p:nvSpPr>
        <p:spPr>
          <a:xfrm>
            <a:off x="4667250" y="2686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Support prepares</a:t>
            </a:r>
          </a:p>
        </p:txBody>
      </p:sp>
      <p:sp>
        <p:nvSpPr>
          <p:cNvPr id="9" name="Confirm requirements">
            <a:extLst>
              <a:ext uri="{FF2B5EF4-FFF2-40B4-BE49-F238E27FC236}">
                <a16:creationId xmlns:a16="http://schemas.microsoft.com/office/drawing/2014/main" id="{034C9B61-7448-47FB-AB16-5F5309A1F42B}"/>
              </a:ext>
            </a:extLst>
          </p:cNvPr>
          <p:cNvSpPr>
            <a:spLocks noGrp="1"/>
          </p:cNvSpPr>
          <p:nvPr/>
        </p:nvSpPr>
        <p:spPr>
          <a:xfrm>
            <a:off x="4667250" y="3076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Confirm requirements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141FE1-63B2-4FE8-948A-A560031810AA}"/>
              </a:ext>
            </a:extLst>
          </p:cNvPr>
          <p:cNvSpPr>
            <a:spLocks noGrp="1"/>
          </p:cNvSpPr>
          <p:nvPr/>
        </p:nvSpPr>
        <p:spPr>
          <a:xfrm>
            <a:off x="8324850" y="252412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1" name="Business checks">
            <a:extLst>
              <a:ext uri="{FF2B5EF4-FFF2-40B4-BE49-F238E27FC236}">
                <a16:creationId xmlns:a16="http://schemas.microsoft.com/office/drawing/2014/main" id="{F6FF2F78-1271-46F9-A278-725BC0C3E0BB}"/>
              </a:ext>
            </a:extLst>
          </p:cNvPr>
          <p:cNvSpPr>
            <a:spLocks noGrp="1"/>
          </p:cNvSpPr>
          <p:nvPr/>
        </p:nvSpPr>
        <p:spPr>
          <a:xfrm>
            <a:off x="8496300" y="2686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Business checks</a:t>
            </a:r>
          </a:p>
        </p:txBody>
      </p:sp>
      <p:sp>
        <p:nvSpPr>
          <p:cNvPr id="12" name="Stock • skills • leave">
            <a:extLst>
              <a:ext uri="{FF2B5EF4-FFF2-40B4-BE49-F238E27FC236}">
                <a16:creationId xmlns:a16="http://schemas.microsoft.com/office/drawing/2014/main" id="{A1FF19D5-34BC-4FF9-929C-67412BE98344}"/>
              </a:ext>
            </a:extLst>
          </p:cNvPr>
          <p:cNvSpPr>
            <a:spLocks noGrp="1"/>
          </p:cNvSpPr>
          <p:nvPr/>
        </p:nvSpPr>
        <p:spPr>
          <a:xfrm>
            <a:off x="8496300" y="3076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Stock • skills • leave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B5094E-FFBE-4142-A7AE-2015281D2630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6" name="Task &amp; activity record">
            <a:extLst>
              <a:ext uri="{FF2B5EF4-FFF2-40B4-BE49-F238E27FC236}">
                <a16:creationId xmlns:a16="http://schemas.microsoft.com/office/drawing/2014/main" id="{0763FC27-760D-4502-86EC-68818573B447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Task &amp; activity record</a:t>
            </a:r>
          </a:p>
        </p:txBody>
      </p:sp>
      <p:sp>
        <p:nvSpPr>
          <p:cNvPr id="17" name="Named employee + next step">
            <a:extLst>
              <a:ext uri="{FF2B5EF4-FFF2-40B4-BE49-F238E27FC236}">
                <a16:creationId xmlns:a16="http://schemas.microsoft.com/office/drawing/2014/main" id="{2A99823C-A81A-4092-AD15-E69620963A01}"/>
              </a:ext>
            </a:extLst>
          </p:cNvPr>
          <p:cNvSpPr>
            <a:spLocks noGrp="1"/>
          </p:cNvSpPr>
          <p:nvPr/>
        </p:nvSpPr>
        <p:spPr>
          <a:xfrm>
            <a:off x="838200" y="4981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Named employee + next step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795615-9787-444F-9846-74FB9A4861B7}"/>
              </a:ext>
            </a:extLst>
          </p:cNvPr>
          <p:cNvSpPr>
            <a:spLocks noGrp="1"/>
          </p:cNvSpPr>
          <p:nvPr/>
        </p:nvSpPr>
        <p:spPr>
          <a:xfrm>
            <a:off x="4495800" y="442912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9" name="Recheck conditions">
            <a:extLst>
              <a:ext uri="{FF2B5EF4-FFF2-40B4-BE49-F238E27FC236}">
                <a16:creationId xmlns:a16="http://schemas.microsoft.com/office/drawing/2014/main" id="{FA6404D3-B44D-4BFF-BF6D-350BCF58FB5C}"/>
              </a:ext>
            </a:extLst>
          </p:cNvPr>
          <p:cNvSpPr>
            <a:spLocks noGrp="1"/>
          </p:cNvSpPr>
          <p:nvPr/>
        </p:nvSpPr>
        <p:spPr>
          <a:xfrm>
            <a:off x="4667250" y="4591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Recheck conditions</a:t>
            </a:r>
          </a:p>
        </p:txBody>
      </p:sp>
      <p:sp>
        <p:nvSpPr>
          <p:cNvPr id="20" name="Prevent stale decisions">
            <a:extLst>
              <a:ext uri="{FF2B5EF4-FFF2-40B4-BE49-F238E27FC236}">
                <a16:creationId xmlns:a16="http://schemas.microsoft.com/office/drawing/2014/main" id="{23D73720-F759-4F0F-AB27-1C76971F40C7}"/>
              </a:ext>
            </a:extLst>
          </p:cNvPr>
          <p:cNvSpPr>
            <a:spLocks noGrp="1"/>
          </p:cNvSpPr>
          <p:nvPr/>
        </p:nvSpPr>
        <p:spPr>
          <a:xfrm>
            <a:off x="4667250" y="4981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Prevent stale decisions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0A3ED6-8188-4CDC-B3FC-2296F1AFA940}"/>
              </a:ext>
            </a:extLst>
          </p:cNvPr>
          <p:cNvSpPr>
            <a:spLocks noGrp="1"/>
          </p:cNvSpPr>
          <p:nvPr/>
        </p:nvSpPr>
        <p:spPr>
          <a:xfrm>
            <a:off x="8324850" y="4429125"/>
            <a:ext cx="3190875" cy="1028700"/>
          </a:xfrm>
          <a:prstGeom prst="rect">
            <a:avLst/>
          </a:prstGeom>
          <a:solidFill>
            <a:srgbClr val="EAF3FF"/>
          </a:solidFill>
          <a:ln w="9525">
            <a:solidFill>
              <a:srgbClr val="91BCF1"/>
            </a:solidFill>
          </a:ln>
        </p:spPr>
      </p:sp>
      <p:sp>
        <p:nvSpPr>
          <p:cNvPr id="22" name="Human approval">
            <a:extLst>
              <a:ext uri="{FF2B5EF4-FFF2-40B4-BE49-F238E27FC236}">
                <a16:creationId xmlns:a16="http://schemas.microsoft.com/office/drawing/2014/main" id="{6B5B5E98-1B70-47DE-BDD7-E6D606A0BB08}"/>
              </a:ext>
            </a:extLst>
          </p:cNvPr>
          <p:cNvSpPr>
            <a:spLocks noGrp="1"/>
          </p:cNvSpPr>
          <p:nvPr/>
        </p:nvSpPr>
        <p:spPr>
          <a:xfrm>
            <a:off x="8496300" y="459105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23" name="Review, edit or reject">
            <a:extLst>
              <a:ext uri="{FF2B5EF4-FFF2-40B4-BE49-F238E27FC236}">
                <a16:creationId xmlns:a16="http://schemas.microsoft.com/office/drawing/2014/main" id="{DF1449AC-05C8-44C9-8A32-9750DB2C6E10}"/>
              </a:ext>
            </a:extLst>
          </p:cNvPr>
          <p:cNvSpPr>
            <a:spLocks noGrp="1"/>
          </p:cNvSpPr>
          <p:nvPr/>
        </p:nvSpPr>
        <p:spPr>
          <a:xfrm>
            <a:off x="8496300" y="498157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Review, edit or reject</a:t>
            </a:r>
          </a:p>
        </p:txBody>
      </p:sp>
      <p:sp>
        <p:nvSpPr>
          <p:cNvPr id="27" name="Support creates requests. Managers approve. Employees carry ">
            <a:extLst>
              <a:ext uri="{FF2B5EF4-FFF2-40B4-BE49-F238E27FC236}">
                <a16:creationId xmlns:a16="http://schemas.microsoft.com/office/drawing/2014/main" id="{18D73EDA-E48C-4B04-91EC-7A8257EF4CD1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Support creates requests. Managers approve. Employees carry out the work.</a:t>
            </a:r>
          </a:p>
        </p:txBody>
      </p:sp>
    </p:spTree>
    <p:extLst>
      <p:ext uri="{BB962C8B-B14F-4D97-AF65-F5344CB8AC3E}">
        <p14:creationId xmlns:p14="http://schemas.microsoft.com/office/powerpoint/2010/main" val="106728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pen the workspace. Know the next action.">
            <a:extLst>
              <a:ext uri="{FF2B5EF4-FFF2-40B4-BE49-F238E27FC236}">
                <a16:creationId xmlns:a16="http://schemas.microsoft.com/office/drawing/2014/main" id="{14FD4E02-0FB6-45CE-802B-4E4937C3D76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Open the workspace. Know the next action.</a:t>
            </a:r>
          </a:p>
        </p:txBody>
      </p:sp>
      <p:sp>
        <p:nvSpPr>
          <p:cNvPr id="2" name="Actionable counts, a named owner and a concrete next step.">
            <a:extLst>
              <a:ext uri="{FF2B5EF4-FFF2-40B4-BE49-F238E27FC236}">
                <a16:creationId xmlns:a16="http://schemas.microsoft.com/office/drawing/2014/main" id="{77BEF379-BA27-4D9F-B1FB-B80033A087E3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Actionable counts, a named owner and a concrete next step.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78173711-6F9E-435A-B6AB-D5715A692811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C4D60F-3BE1-4EC0-96D2-9A0CD1586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67392" y="2143125"/>
            <a:ext cx="6942667" cy="3905250"/>
          </a:xfrm>
          <a:prstGeom prst="rect">
            <a:avLst/>
          </a:prstGeom>
        </p:spPr>
      </p:pic>
      <p:sp>
        <p:nvSpPr>
          <p:cNvPr id="5" name="Scan">
            <a:extLst>
              <a:ext uri="{FF2B5EF4-FFF2-40B4-BE49-F238E27FC236}">
                <a16:creationId xmlns:a16="http://schemas.microsoft.com/office/drawing/2014/main" id="{72BF08A4-E11A-4FF1-B191-903E19967D9B}"/>
              </a:ext>
            </a:extLst>
          </p:cNvPr>
          <p:cNvSpPr>
            <a:spLocks noGrp="1"/>
          </p:cNvSpPr>
          <p:nvPr/>
        </p:nvSpPr>
        <p:spPr>
          <a:xfrm>
            <a:off x="9810750" y="24574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6" name="See what needs attention.">
            <a:extLst>
              <a:ext uri="{FF2B5EF4-FFF2-40B4-BE49-F238E27FC236}">
                <a16:creationId xmlns:a16="http://schemas.microsoft.com/office/drawing/2014/main" id="{F1787C34-3377-42A6-8638-97FB47B113FF}"/>
              </a:ext>
            </a:extLst>
          </p:cNvPr>
          <p:cNvSpPr>
            <a:spLocks noGrp="1"/>
          </p:cNvSpPr>
          <p:nvPr/>
        </p:nvSpPr>
        <p:spPr>
          <a:xfrm>
            <a:off x="9810750" y="2905125"/>
            <a:ext cx="17145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See what needs attention.</a:t>
            </a:r>
          </a:p>
        </p:txBody>
      </p:sp>
      <p:sp>
        <p:nvSpPr>
          <p:cNvPr id="7" name="Act">
            <a:extLst>
              <a:ext uri="{FF2B5EF4-FFF2-40B4-BE49-F238E27FC236}">
                <a16:creationId xmlns:a16="http://schemas.microsoft.com/office/drawing/2014/main" id="{D4039AD9-2D6D-425B-B610-D8A5DFFEAA5A}"/>
              </a:ext>
            </a:extLst>
          </p:cNvPr>
          <p:cNvSpPr>
            <a:spLocks noGrp="1"/>
          </p:cNvSpPr>
          <p:nvPr/>
        </p:nvSpPr>
        <p:spPr>
          <a:xfrm>
            <a:off x="9810750" y="40100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8" name="Open the relevant task directly.">
            <a:extLst>
              <a:ext uri="{FF2B5EF4-FFF2-40B4-BE49-F238E27FC236}">
                <a16:creationId xmlns:a16="http://schemas.microsoft.com/office/drawing/2014/main" id="{E95F4F9D-037E-45A1-BCF0-E7BFBAAD262F}"/>
              </a:ext>
            </a:extLst>
          </p:cNvPr>
          <p:cNvSpPr>
            <a:spLocks noGrp="1"/>
          </p:cNvSpPr>
          <p:nvPr/>
        </p:nvSpPr>
        <p:spPr>
          <a:xfrm>
            <a:off x="9810750" y="4457700"/>
            <a:ext cx="1714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Open the relevant task directly.</a:t>
            </a:r>
          </a:p>
        </p:txBody>
      </p:sp>
      <p:sp>
        <p:nvSpPr>
          <p:cNvPr id="9" name="Actual English prototype · synthetic business data · browser">
            <a:extLst>
              <a:ext uri="{FF2B5EF4-FFF2-40B4-BE49-F238E27FC236}">
                <a16:creationId xmlns:a16="http://schemas.microsoft.com/office/drawing/2014/main" id="{CCADF4AB-77EE-4AD4-9E2E-B09BD5C64A64}"/>
              </a:ext>
            </a:extLst>
          </p:cNvPr>
          <p:cNvSpPr>
            <a:spLocks noGrp="1"/>
          </p:cNvSpPr>
          <p:nvPr/>
        </p:nvSpPr>
        <p:spPr>
          <a:xfrm>
            <a:off x="638175" y="6153150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Actual English prototype · synthetic business data · browser-local state</a:t>
            </a:r>
          </a:p>
        </p:txBody>
      </p:sp>
    </p:spTree>
    <p:extLst>
      <p:ext uri="{BB962C8B-B14F-4D97-AF65-F5344CB8AC3E}">
        <p14:creationId xmlns:p14="http://schemas.microsoft.com/office/powerpoint/2010/main" val="42135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I assists. Rules check. People decide.">
            <a:extLst>
              <a:ext uri="{FF2B5EF4-FFF2-40B4-BE49-F238E27FC236}">
                <a16:creationId xmlns:a16="http://schemas.microsoft.com/office/drawing/2014/main" id="{6EEECE9A-1384-458D-AE2A-01616173BB9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AI assists. Rules check. People decide.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DE28212F-53AF-4368-B781-CE1B418DB78F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64D27E-1ECE-41E2-A58A-F196E282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54020" y="1562100"/>
            <a:ext cx="2780061" cy="4695825"/>
          </a:xfrm>
          <a:prstGeom prst="rect">
            <a:avLst/>
          </a:prstGeom>
        </p:spPr>
      </p:pic>
      <p:sp>
        <p:nvSpPr>
          <p:cNvPr id="4" name="Extract &amp; draft">
            <a:extLst>
              <a:ext uri="{FF2B5EF4-FFF2-40B4-BE49-F238E27FC236}">
                <a16:creationId xmlns:a16="http://schemas.microsoft.com/office/drawing/2014/main" id="{2E2018D2-BA8E-4650-BE95-68B9D43A9528}"/>
              </a:ext>
            </a:extLst>
          </p:cNvPr>
          <p:cNvSpPr>
            <a:spLocks noGrp="1"/>
          </p:cNvSpPr>
          <p:nvPr/>
        </p:nvSpPr>
        <p:spPr>
          <a:xfrm>
            <a:off x="666750" y="2009775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Extract &amp; draft</a:t>
            </a:r>
          </a:p>
        </p:txBody>
      </p:sp>
      <p:sp>
        <p:nvSpPr>
          <p:cNvPr id="5" name="The OpenAI adapter is designed to structure&#10;a message and su">
            <a:extLst>
              <a:ext uri="{FF2B5EF4-FFF2-40B4-BE49-F238E27FC236}">
                <a16:creationId xmlns:a16="http://schemas.microsoft.com/office/drawing/2014/main" id="{32B78463-25DD-4668-AFE4-D17A2B5BF3D9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619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The OpenAI adapter is designed to structure</a:t>
            </a:r>
          </a:p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 message and suggest an editable reply.</a:t>
            </a:r>
          </a:p>
        </p:txBody>
      </p:sp>
      <p:sp>
        <p:nvSpPr>
          <p:cNvPr id="6" name="Verify &amp; approve">
            <a:extLst>
              <a:ext uri="{FF2B5EF4-FFF2-40B4-BE49-F238E27FC236}">
                <a16:creationId xmlns:a16="http://schemas.microsoft.com/office/drawing/2014/main" id="{A6FF5F4C-EA2B-4AA3-96C1-F01706471290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Verify &amp; approve</a:t>
            </a:r>
          </a:p>
        </p:txBody>
      </p:sp>
      <p:sp>
        <p:nvSpPr>
          <p:cNvPr id="7" name="Business rules check resources. A person&#10;confirms the decisi">
            <a:extLst>
              <a:ext uri="{FF2B5EF4-FFF2-40B4-BE49-F238E27FC236}">
                <a16:creationId xmlns:a16="http://schemas.microsoft.com/office/drawing/2014/main" id="{154943F9-F3D5-4E93-ABD6-E25978D68229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19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Business rules check resources. A person</a:t>
            </a:r>
          </a:p>
          <a:p>
            <a:pPr>
              <a:defRPr sz="20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confirms the decision and the outgoing reply.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49C26E-C0D3-47D6-960E-502FA761D9E9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6191250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9" name="API integrated; last live test was credit-blocked.&#10;Successfu">
            <a:extLst>
              <a:ext uri="{FF2B5EF4-FFF2-40B4-BE49-F238E27FC236}">
                <a16:creationId xmlns:a16="http://schemas.microsoft.com/office/drawing/2014/main" id="{1EC24924-9D6F-43C3-B094-E0C9552F6C60}"/>
              </a:ext>
            </a:extLst>
          </p:cNvPr>
          <p:cNvSpPr>
            <a:spLocks noGrp="1"/>
          </p:cNvSpPr>
          <p:nvPr/>
        </p:nvSpPr>
        <p:spPr>
          <a:xfrm>
            <a:off x="666750" y="555307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C601B"/>
                </a:solidFill>
                <a:latin typeface="Arial"/>
                <a:ea typeface="Arial"/>
                <a:cs typeface="Arial"/>
              </a:rPr>
              <a:t>API integrated; last live test was credit-blocked.</a:t>
            </a:r>
          </a:p>
          <a:p>
            <a:pPr>
              <a:defRPr sz="1650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C601B"/>
                </a:solidFill>
                <a:latin typeface="Arial"/>
                <a:ea typeface="Arial"/>
                <a:cs typeface="Arial"/>
              </a:rPr>
              <a:t>Successful model generation is not yet verified.</a:t>
            </a:r>
          </a:p>
        </p:txBody>
      </p:sp>
    </p:spTree>
    <p:extLst>
      <p:ext uri="{BB962C8B-B14F-4D97-AF65-F5344CB8AC3E}">
        <p14:creationId xmlns:p14="http://schemas.microsoft.com/office/powerpoint/2010/main" val="495046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uilt around the way small teams work.">
            <a:extLst>
              <a:ext uri="{FF2B5EF4-FFF2-40B4-BE49-F238E27FC236}">
                <a16:creationId xmlns:a16="http://schemas.microsoft.com/office/drawing/2014/main" id="{B6F033E0-7395-4265-9D47-04D7C9E9621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Built around the way small teams work.</a:t>
            </a:r>
          </a:p>
        </p:txBody>
      </p:sp>
      <p:sp>
        <p:nvSpPr>
          <p:cNvPr id="2" name="Start with familiar inputs. Keep the learning burden low.">
            <a:extLst>
              <a:ext uri="{FF2B5EF4-FFF2-40B4-BE49-F238E27FC236}">
                <a16:creationId xmlns:a16="http://schemas.microsoft.com/office/drawing/2014/main" id="{5920BF15-E82D-4C7F-A750-533B950AE6DB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Start with familiar inputs. Keep the learning burden low.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17D79F0A-636F-4757-B2A5-86B4A897B5A2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LANGUAGE">
            <a:extLst>
              <a:ext uri="{FF2B5EF4-FFF2-40B4-BE49-F238E27FC236}">
                <a16:creationId xmlns:a16="http://schemas.microsoft.com/office/drawing/2014/main" id="{1076C188-9D7D-4C75-AFDD-EF383C2BE3CC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5" name="English. Chinese.&#10;Bahasa Melayu.">
            <a:extLst>
              <a:ext uri="{FF2B5EF4-FFF2-40B4-BE49-F238E27FC236}">
                <a16:creationId xmlns:a16="http://schemas.microsoft.com/office/drawing/2014/main" id="{3B81EC05-A6AB-4575-8E9B-D429F5929C6A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English. Chinese.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Bahasa Melayu.</a:t>
            </a:r>
          </a:p>
        </p:txBody>
      </p:sp>
      <p:sp>
        <p:nvSpPr>
          <p:cNvPr id="6" name="Interface language switches without changing the user’s orig">
            <a:extLst>
              <a:ext uri="{FF2B5EF4-FFF2-40B4-BE49-F238E27FC236}">
                <a16:creationId xmlns:a16="http://schemas.microsoft.com/office/drawing/2014/main" id="{DCBB62B1-5328-4471-A802-3CB1B1160D84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Interface language switches without changing the user’s original messages.</a:t>
            </a:r>
          </a:p>
        </p:txBody>
      </p:sp>
      <p:sp>
        <p:nvSpPr>
          <p:cNvPr id="7" name="CONTEXT">
            <a:extLst>
              <a:ext uri="{FF2B5EF4-FFF2-40B4-BE49-F238E27FC236}">
                <a16:creationId xmlns:a16="http://schemas.microsoft.com/office/drawing/2014/main" id="{591A75BC-1507-4891-A42A-C8E3D8529EA3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8" name="Local business&#10;information.">
            <a:extLst>
              <a:ext uri="{FF2B5EF4-FFF2-40B4-BE49-F238E27FC236}">
                <a16:creationId xmlns:a16="http://schemas.microsoft.com/office/drawing/2014/main" id="{DDAB0467-578A-47B4-8CAA-4A4B74C49BCD}"/>
              </a:ext>
            </a:extLst>
          </p:cNvPr>
          <p:cNvSpPr>
            <a:spLocks noGrp="1"/>
          </p:cNvSpPr>
          <p:nvPr/>
        </p:nvSpPr>
        <p:spPr>
          <a:xfrm>
            <a:off x="4524375" y="2771775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Local business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information.</a:t>
            </a:r>
          </a:p>
        </p:txBody>
      </p:sp>
      <p:sp>
        <p:nvSpPr>
          <p:cNvPr id="9" name="RM, Malaysia time and approved leave support practical sched">
            <a:extLst>
              <a:ext uri="{FF2B5EF4-FFF2-40B4-BE49-F238E27FC236}">
                <a16:creationId xmlns:a16="http://schemas.microsoft.com/office/drawing/2014/main" id="{2A475F3D-F86E-415E-980F-75E18C6BD275}"/>
              </a:ext>
            </a:extLst>
          </p:cNvPr>
          <p:cNvSpPr>
            <a:spLocks noGrp="1"/>
          </p:cNvSpPr>
          <p:nvPr/>
        </p:nvSpPr>
        <p:spPr>
          <a:xfrm>
            <a:off x="4524375" y="3657600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RM, Malaysia time and approved leave support practical scheduling checks.</a:t>
            </a: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F8B068FC-6CDC-4C2E-AC69-973170C74367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Bring a local&#10;Excel or CSV file.">
            <a:extLst>
              <a:ext uri="{FF2B5EF4-FFF2-40B4-BE49-F238E27FC236}">
                <a16:creationId xmlns:a16="http://schemas.microsoft.com/office/drawing/2014/main" id="{2BF5588E-6BAC-41CE-9B08-99E8AD872BFC}"/>
              </a:ext>
            </a:extLst>
          </p:cNvPr>
          <p:cNvSpPr>
            <a:spLocks noGrp="1"/>
          </p:cNvSpPr>
          <p:nvPr/>
        </p:nvSpPr>
        <p:spPr>
          <a:xfrm>
            <a:off x="8382000" y="2771775"/>
            <a:ext cx="30956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Bring a local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Excel or CSV file.</a:t>
            </a:r>
          </a:p>
        </p:txBody>
      </p:sp>
      <p:sp>
        <p:nvSpPr>
          <p:cNvPr id="12" name="Employee-resource tables are parsed in the browser; no Micro">
            <a:extLst>
              <a:ext uri="{FF2B5EF4-FFF2-40B4-BE49-F238E27FC236}">
                <a16:creationId xmlns:a16="http://schemas.microsoft.com/office/drawing/2014/main" id="{6FFBE412-D946-4E86-9CC6-F1A0097F5F93}"/>
              </a:ext>
            </a:extLst>
          </p:cNvPr>
          <p:cNvSpPr>
            <a:spLocks noGrp="1"/>
          </p:cNvSpPr>
          <p:nvPr/>
        </p:nvSpPr>
        <p:spPr>
          <a:xfrm>
            <a:off x="8382000" y="3657600"/>
            <a:ext cx="309562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Employee-resource tables are parsed in the browser; no Microsoft 365 account needed.</a:t>
            </a:r>
          </a:p>
        </p:txBody>
      </p:sp>
      <p:sp>
        <p:nvSpPr>
          <p:cNvPr id="13" name="WhatsApp Business and cloud Excel sync are planned, not conn">
            <a:extLst>
              <a:ext uri="{FF2B5EF4-FFF2-40B4-BE49-F238E27FC236}">
                <a16:creationId xmlns:a16="http://schemas.microsoft.com/office/drawing/2014/main" id="{8639F312-6632-48E7-8FE5-B22F50A581CD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9C60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C601B"/>
                </a:solidFill>
                <a:latin typeface="Arial"/>
                <a:ea typeface="Arial"/>
                <a:cs typeface="Arial"/>
              </a:rPr>
              <a:t>WhatsApp Business and cloud Excel sync are planned,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185188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DDBA795F-825F-4F9E-9062-16F0671F9219}"/>
              </a:ext>
            </a:extLst>
          </p:cNvPr>
          <p:cNvCxnSpPr>
            <a:stCxn id="27" idx="0"/>
            <a:endCxn id="21" idx="2"/>
          </p:cNvCxnSpPr>
          <p:nvPr/>
        </p:nvCxnSpPr>
        <p:spPr>
          <a:xfrm flipV="1">
            <a:off x="9920288" y="5448300"/>
            <a:ext cx="0" cy="17145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CDCAB52A-8FFC-4A7F-9AB6-8D4007BC0B1E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2266950" y="5624513"/>
            <a:ext cx="7648575" cy="0"/>
          </a:xfrm>
          <a:prstGeom prst="straightConnector1">
            <a:avLst/>
          </a:prstGeom>
          <a:ln w="19050">
            <a:solidFill>
              <a:srgbClr val="8BA0BA"/>
            </a:solidFill>
          </a:ln>
        </p:spPr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81C0B78-F8E4-41EB-A96C-BF186942855E}"/>
              </a:ext>
            </a:extLst>
          </p:cNvPr>
          <p:cNvCxnSpPr>
            <a:stCxn id="15" idx="2"/>
            <a:endCxn id="26" idx="0"/>
          </p:cNvCxnSpPr>
          <p:nvPr/>
        </p:nvCxnSpPr>
        <p:spPr>
          <a:xfrm>
            <a:off x="2262188" y="5448300"/>
            <a:ext cx="0" cy="171450"/>
          </a:xfrm>
          <a:prstGeom prst="straightConnector1">
            <a:avLst/>
          </a:prstGeom>
          <a:ln w="19050">
            <a:solidFill>
              <a:srgbClr val="8BA0BA"/>
            </a:solidFill>
          </a:ln>
        </p:spPr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444D767-3055-4126-8C1F-C9254CB56CD7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3857625" y="4933950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CF54EF7-D725-4B43-BDDC-E010E5A5D9DA}"/>
              </a:ext>
            </a:extLst>
          </p:cNvPr>
          <p:cNvCxnSpPr>
            <a:stCxn id="4" idx="2"/>
            <a:endCxn id="15" idx="0"/>
          </p:cNvCxnSpPr>
          <p:nvPr/>
        </p:nvCxnSpPr>
        <p:spPr>
          <a:xfrm>
            <a:off x="2262188" y="3533775"/>
            <a:ext cx="0" cy="885825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A03F1CA-5C84-483A-BD13-F8DD79659242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7686675" y="301942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11F8108-67CE-499F-80F1-4E7B6F1ADA2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857625" y="3019425"/>
            <a:ext cx="638175" cy="0"/>
          </a:xfrm>
          <a:prstGeom prst="straightConnector1">
            <a:avLst/>
          </a:prstGeom>
          <a:ln w="19050">
            <a:solidFill>
              <a:srgbClr val="8BA0BA"/>
            </a:solidFill>
            <a:tailEnd type="triangle" w="sm" len="sm"/>
          </a:ln>
        </p:spPr>
      </p:cxnSp>
      <p:sp>
        <p:nvSpPr>
          <p:cNvPr id="33" name="A small architecture. Clear boundaries.">
            <a:extLst>
              <a:ext uri="{FF2B5EF4-FFF2-40B4-BE49-F238E27FC236}">
                <a16:creationId xmlns:a16="http://schemas.microsoft.com/office/drawing/2014/main" id="{C764EA20-6E16-465F-A69A-4D824B481B3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architecture. Clear boundaries.</a:t>
            </a:r>
          </a:p>
        </p:txBody>
      </p:sp>
      <p:sp>
        <p:nvSpPr>
          <p:cNvPr id="2" name="Current deployed prototype · business storage and AI service">
            <a:extLst>
              <a:ext uri="{FF2B5EF4-FFF2-40B4-BE49-F238E27FC236}">
                <a16:creationId xmlns:a16="http://schemas.microsoft.com/office/drawing/2014/main" id="{6BE3C2CE-9E3C-4ACC-92CE-CA93087DDFCB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B9C8D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8DC"/>
                </a:solidFill>
                <a:latin typeface="Arial"/>
                <a:ea typeface="Arial"/>
                <a:cs typeface="Arial"/>
              </a:rPr>
              <a:t>Current deployed prototype · business storage and AI services are separate.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4ABC7F21-DA1E-4C48-955C-66795D29E27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ABD007-BC79-46A7-BC02-8274E5297B35}"/>
              </a:ext>
            </a:extLst>
          </p:cNvPr>
          <p:cNvSpPr>
            <a:spLocks noGrp="1"/>
          </p:cNvSpPr>
          <p:nvPr/>
        </p:nvSpPr>
        <p:spPr>
          <a:xfrm>
            <a:off x="666750" y="250507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5" name="Browser workspace">
            <a:extLst>
              <a:ext uri="{FF2B5EF4-FFF2-40B4-BE49-F238E27FC236}">
                <a16:creationId xmlns:a16="http://schemas.microsoft.com/office/drawing/2014/main" id="{B3BA3FBF-2834-4151-813B-EA430C2A9900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Browser workspace</a:t>
            </a:r>
          </a:p>
        </p:txBody>
      </p:sp>
      <p:sp>
        <p:nvSpPr>
          <p:cNvPr id="6" name="HTML • CSS • JavaScript">
            <a:extLst>
              <a:ext uri="{FF2B5EF4-FFF2-40B4-BE49-F238E27FC236}">
                <a16:creationId xmlns:a16="http://schemas.microsoft.com/office/drawing/2014/main" id="{9CCEF79F-31F8-4718-B6DB-B9DA29D73B3B}"/>
              </a:ext>
            </a:extLst>
          </p:cNvPr>
          <p:cNvSpPr>
            <a:spLocks noGrp="1"/>
          </p:cNvSpPr>
          <p:nvPr/>
        </p:nvSpPr>
        <p:spPr>
          <a:xfrm>
            <a:off x="838200" y="305752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HTML • CSS • JavaScript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B1ED74-7F3B-4FC1-B0F6-F4CF7ADF63DF}"/>
              </a:ext>
            </a:extLst>
          </p:cNvPr>
          <p:cNvSpPr>
            <a:spLocks noGrp="1"/>
          </p:cNvSpPr>
          <p:nvPr/>
        </p:nvSpPr>
        <p:spPr>
          <a:xfrm>
            <a:off x="4495800" y="250507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8" name="Workflow rules">
            <a:extLst>
              <a:ext uri="{FF2B5EF4-FFF2-40B4-BE49-F238E27FC236}">
                <a16:creationId xmlns:a16="http://schemas.microsoft.com/office/drawing/2014/main" id="{A5C9F11E-4AC5-4B53-BDDE-2F2AB4F23E2B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Workflow rules</a:t>
            </a:r>
          </a:p>
        </p:txBody>
      </p:sp>
      <p:sp>
        <p:nvSpPr>
          <p:cNvPr id="9" name="Checks + human approval">
            <a:extLst>
              <a:ext uri="{FF2B5EF4-FFF2-40B4-BE49-F238E27FC236}">
                <a16:creationId xmlns:a16="http://schemas.microsoft.com/office/drawing/2014/main" id="{CB12168E-594E-4AAB-AB57-39A7316A6DDA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Checks + human approval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A7443E-AFB3-4DF2-B1E2-ABD0C2128DB9}"/>
              </a:ext>
            </a:extLst>
          </p:cNvPr>
          <p:cNvSpPr>
            <a:spLocks noGrp="1"/>
          </p:cNvSpPr>
          <p:nvPr/>
        </p:nvSpPr>
        <p:spPr>
          <a:xfrm>
            <a:off x="8324850" y="2505075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1" name="localStorage">
            <a:extLst>
              <a:ext uri="{FF2B5EF4-FFF2-40B4-BE49-F238E27FC236}">
                <a16:creationId xmlns:a16="http://schemas.microsoft.com/office/drawing/2014/main" id="{0320F787-6E02-4DC9-B7A9-908702A73DF0}"/>
              </a:ext>
            </a:extLst>
          </p:cNvPr>
          <p:cNvSpPr>
            <a:spLocks noGrp="1"/>
          </p:cNvSpPr>
          <p:nvPr/>
        </p:nvSpPr>
        <p:spPr>
          <a:xfrm>
            <a:off x="8496300" y="2667000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localStorage</a:t>
            </a:r>
          </a:p>
        </p:txBody>
      </p:sp>
      <p:sp>
        <p:nvSpPr>
          <p:cNvPr id="12" name="Business records + activity">
            <a:extLst>
              <a:ext uri="{FF2B5EF4-FFF2-40B4-BE49-F238E27FC236}">
                <a16:creationId xmlns:a16="http://schemas.microsoft.com/office/drawing/2014/main" id="{5405A030-7801-4AA0-8191-D3612C7C95B9}"/>
              </a:ext>
            </a:extLst>
          </p:cNvPr>
          <p:cNvSpPr>
            <a:spLocks noGrp="1"/>
          </p:cNvSpPr>
          <p:nvPr/>
        </p:nvSpPr>
        <p:spPr>
          <a:xfrm>
            <a:off x="8496300" y="3057525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Business records + activity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45DCFC-EC33-4E61-951F-244CCD90C521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6" name="Sites / Worker">
            <a:extLst>
              <a:ext uri="{FF2B5EF4-FFF2-40B4-BE49-F238E27FC236}">
                <a16:creationId xmlns:a16="http://schemas.microsoft.com/office/drawing/2014/main" id="{637D8EB2-A97A-496D-9DCD-2E9A5AF01147}"/>
              </a:ext>
            </a:extLst>
          </p:cNvPr>
          <p:cNvSpPr>
            <a:spLocks noGrp="1"/>
          </p:cNvSpPr>
          <p:nvPr/>
        </p:nvSpPr>
        <p:spPr>
          <a:xfrm>
            <a:off x="838200" y="4581525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Sites / Worker</a:t>
            </a:r>
          </a:p>
        </p:txBody>
      </p:sp>
      <p:sp>
        <p:nvSpPr>
          <p:cNvPr id="17" name="Authenticated AI endpoint">
            <a:extLst>
              <a:ext uri="{FF2B5EF4-FFF2-40B4-BE49-F238E27FC236}">
                <a16:creationId xmlns:a16="http://schemas.microsoft.com/office/drawing/2014/main" id="{F20AF89C-CB4B-497D-82D8-7A7862630DA6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Authenticated AI endpoint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FD3322-5145-4360-8999-F113A4B96470}"/>
              </a:ext>
            </a:extLst>
          </p:cNvPr>
          <p:cNvSpPr>
            <a:spLocks noGrp="1"/>
          </p:cNvSpPr>
          <p:nvPr/>
        </p:nvSpPr>
        <p:spPr>
          <a:xfrm>
            <a:off x="4495800" y="4419600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19" name="OpenAI Responses API">
            <a:extLst>
              <a:ext uri="{FF2B5EF4-FFF2-40B4-BE49-F238E27FC236}">
                <a16:creationId xmlns:a16="http://schemas.microsoft.com/office/drawing/2014/main" id="{A340F33C-E912-41F6-AB28-FA76E8590A7F}"/>
              </a:ext>
            </a:extLst>
          </p:cNvPr>
          <p:cNvSpPr>
            <a:spLocks noGrp="1"/>
          </p:cNvSpPr>
          <p:nvPr/>
        </p:nvSpPr>
        <p:spPr>
          <a:xfrm>
            <a:off x="4667250" y="4581525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OpenAI Responses API</a:t>
            </a:r>
          </a:p>
        </p:txBody>
      </p:sp>
      <p:sp>
        <p:nvSpPr>
          <p:cNvPr id="20" name="gpt-4.1-mini adapter">
            <a:extLst>
              <a:ext uri="{FF2B5EF4-FFF2-40B4-BE49-F238E27FC236}">
                <a16:creationId xmlns:a16="http://schemas.microsoft.com/office/drawing/2014/main" id="{25917511-B771-4C37-B934-D0B70545A6B0}"/>
              </a:ext>
            </a:extLst>
          </p:cNvPr>
          <p:cNvSpPr>
            <a:spLocks noGrp="1"/>
          </p:cNvSpPr>
          <p:nvPr/>
        </p:nvSpPr>
        <p:spPr>
          <a:xfrm>
            <a:off x="4667250" y="4972050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gpt-4.1-mini adapter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BB1C7A-F214-4693-9EE7-12A7D7DB36C9}"/>
              </a:ext>
            </a:extLst>
          </p:cNvPr>
          <p:cNvSpPr>
            <a:spLocks noGrp="1"/>
          </p:cNvSpPr>
          <p:nvPr/>
        </p:nvSpPr>
        <p:spPr>
          <a:xfrm>
            <a:off x="8324850" y="4419600"/>
            <a:ext cx="3190875" cy="1028700"/>
          </a:xfrm>
          <a:prstGeom prst="rect">
            <a:avLst/>
          </a:prstGeom>
          <a:solidFill>
            <a:srgbClr val="F3F5F8"/>
          </a:solidFill>
          <a:ln w="9525">
            <a:solidFill>
              <a:srgbClr val="D9DFE7"/>
            </a:solidFill>
          </a:ln>
        </p:spPr>
      </p:sp>
      <p:sp>
        <p:nvSpPr>
          <p:cNvPr id="22" name="Cloudflare D1">
            <a:extLst>
              <a:ext uri="{FF2B5EF4-FFF2-40B4-BE49-F238E27FC236}">
                <a16:creationId xmlns:a16="http://schemas.microsoft.com/office/drawing/2014/main" id="{450DC4A4-3D59-4BD6-A9CE-0FFD96958478}"/>
              </a:ext>
            </a:extLst>
          </p:cNvPr>
          <p:cNvSpPr>
            <a:spLocks noGrp="1"/>
          </p:cNvSpPr>
          <p:nvPr/>
        </p:nvSpPr>
        <p:spPr>
          <a:xfrm>
            <a:off x="8496300" y="4581525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Cloudflare D1</a:t>
            </a:r>
          </a:p>
        </p:txBody>
      </p:sp>
      <p:sp>
        <p:nvSpPr>
          <p:cNvPr id="23" name="AI usage counters only">
            <a:extLst>
              <a:ext uri="{FF2B5EF4-FFF2-40B4-BE49-F238E27FC236}">
                <a16:creationId xmlns:a16="http://schemas.microsoft.com/office/drawing/2014/main" id="{752BFF04-87B5-467B-AF33-2A0D5D965B1D}"/>
              </a:ext>
            </a:extLst>
          </p:cNvPr>
          <p:cNvSpPr>
            <a:spLocks noGrp="1"/>
          </p:cNvSpPr>
          <p:nvPr/>
        </p:nvSpPr>
        <p:spPr>
          <a:xfrm>
            <a:off x="8496300" y="4972050"/>
            <a:ext cx="2847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AI usage counters only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CB70C5-4D03-480B-AB4E-5B4DBF65B22F}"/>
              </a:ext>
            </a:extLst>
          </p:cNvPr>
          <p:cNvSpPr>
            <a:spLocks noGrp="1"/>
          </p:cNvSpPr>
          <p:nvPr/>
        </p:nvSpPr>
        <p:spPr>
          <a:xfrm>
            <a:off x="2257425" y="56197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C3883B-5095-4853-A1FB-C4E816FF410D}"/>
              </a:ext>
            </a:extLst>
          </p:cNvPr>
          <p:cNvSpPr>
            <a:spLocks noGrp="1"/>
          </p:cNvSpPr>
          <p:nvPr/>
        </p:nvSpPr>
        <p:spPr>
          <a:xfrm>
            <a:off x="9915525" y="56197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Sites hosts UI + backend. API key stays server-side. AI draf">
            <a:extLst>
              <a:ext uri="{FF2B5EF4-FFF2-40B4-BE49-F238E27FC236}">
                <a16:creationId xmlns:a16="http://schemas.microsoft.com/office/drawing/2014/main" id="{B0EC9AAC-F1FE-4453-A6C9-D36941BED0AF}"/>
              </a:ext>
            </a:extLst>
          </p:cNvPr>
          <p:cNvSpPr>
            <a:spLocks noGrp="1"/>
          </p:cNvSpPr>
          <p:nvPr/>
        </p:nvSpPr>
        <p:spPr>
          <a:xfrm>
            <a:off x="666750" y="5867400"/>
            <a:ext cx="108108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C3D0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3D0E2"/>
                </a:solidFill>
                <a:latin typeface="Arial"/>
                <a:ea typeface="Arial"/>
                <a:cs typeface="Arial"/>
              </a:rPr>
              <a:t>Sites hosts UI + backend. API key stays server-side. AI drafts return to human review.</a:t>
            </a:r>
          </a:p>
        </p:txBody>
      </p:sp>
      <p:sp>
        <p:nvSpPr>
          <p:cNvPr id="32" name="Credit-blocked AI verification • no shared business database">
            <a:extLst>
              <a:ext uri="{FF2B5EF4-FFF2-40B4-BE49-F238E27FC236}">
                <a16:creationId xmlns:a16="http://schemas.microsoft.com/office/drawing/2014/main" id="{5FB18513-0DD2-4AB3-B474-8081FD0F9BAF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AABA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AD0"/>
                </a:solidFill>
                <a:latin typeface="Arial"/>
                <a:ea typeface="Arial"/>
                <a:cs typeface="Arial"/>
              </a:rPr>
              <a:t>Credit-blocked AI verification • no shared business database or production tenant isolation yet</a:t>
            </a:r>
          </a:p>
        </p:txBody>
      </p:sp>
    </p:spTree>
    <p:extLst>
      <p:ext uri="{BB962C8B-B14F-4D97-AF65-F5344CB8AC3E}">
        <p14:creationId xmlns:p14="http://schemas.microsoft.com/office/powerpoint/2010/main" val="128275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liability needs more than a good reply.">
            <a:extLst>
              <a:ext uri="{FF2B5EF4-FFF2-40B4-BE49-F238E27FC236}">
                <a16:creationId xmlns:a16="http://schemas.microsoft.com/office/drawing/2014/main" id="{7AF104A0-3CBD-4415-9D6F-94055EA5EB9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Reliability needs more than a good reply.</a:t>
            </a:r>
          </a:p>
        </p:txBody>
      </p:sp>
      <p:sp>
        <p:nvSpPr>
          <p:cNvPr id="2" name="The prototype has workflow safeguards. Production controls a">
            <a:extLst>
              <a:ext uri="{FF2B5EF4-FFF2-40B4-BE49-F238E27FC236}">
                <a16:creationId xmlns:a16="http://schemas.microsoft.com/office/drawing/2014/main" id="{55528A36-6DCA-4B1E-952C-4B11FADEA67C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The prototype has workflow safeguards. Production controls are the next gate.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74596363-C674-4E2B-AC21-B6223E6C97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70">
            <a:extLst>
              <a:ext uri="{FF2B5EF4-FFF2-40B4-BE49-F238E27FC236}">
                <a16:creationId xmlns:a16="http://schemas.microsoft.com/office/drawing/2014/main" id="{43052492-ED69-4F68-8B7B-1ECD5DB157F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1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5" name="automated tests passing">
            <a:extLst>
              <a:ext uri="{FF2B5EF4-FFF2-40B4-BE49-F238E27FC236}">
                <a16:creationId xmlns:a16="http://schemas.microsoft.com/office/drawing/2014/main" id="{A3744BBE-4BED-422A-A1AB-C40138ED9BB3}"/>
              </a:ext>
            </a:extLst>
          </p:cNvPr>
          <p:cNvSpPr>
            <a:spLocks noGrp="1"/>
          </p:cNvSpPr>
          <p:nvPr/>
        </p:nvSpPr>
        <p:spPr>
          <a:xfrm>
            <a:off x="666750" y="3724275"/>
            <a:ext cx="3476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6" name="Current test suite; not a security&#10;certification or a custom">
            <a:extLst>
              <a:ext uri="{FF2B5EF4-FFF2-40B4-BE49-F238E27FC236}">
                <a16:creationId xmlns:a16="http://schemas.microsoft.com/office/drawing/2014/main" id="{1D1FA7EA-3039-4D18-9FEF-71427362F77F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3476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Current test suite; not a security</a:t>
            </a:r>
          </a:p>
          <a:p>
            <a:pPr>
              <a:defRPr sz="17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certification or a customer trial.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9CE54F-8537-4A96-A856-C763AD94DC1A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671512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8" name="Recheck before committing">
            <a:extLst>
              <a:ext uri="{FF2B5EF4-FFF2-40B4-BE49-F238E27FC236}">
                <a16:creationId xmlns:a16="http://schemas.microsoft.com/office/drawing/2014/main" id="{BFB0742C-0AD0-472B-9739-685522081112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671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Recheck before committing</a:t>
            </a:r>
          </a:p>
        </p:txBody>
      </p:sp>
      <p:sp>
        <p:nvSpPr>
          <p:cNvPr id="9" name="Stock, leave and capacity may have changed.">
            <a:extLst>
              <a:ext uri="{FF2B5EF4-FFF2-40B4-BE49-F238E27FC236}">
                <a16:creationId xmlns:a16="http://schemas.microsoft.com/office/drawing/2014/main" id="{168B916B-D7D7-42FA-83D2-DF705219468B}"/>
              </a:ext>
            </a:extLst>
          </p:cNvPr>
          <p:cNvSpPr>
            <a:spLocks noGrp="1"/>
          </p:cNvSpPr>
          <p:nvPr/>
        </p:nvSpPr>
        <p:spPr>
          <a:xfrm>
            <a:off x="4762500" y="2657475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Stock, leave and capacity may have changed.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6E8215-AF3B-4517-8106-48656AAC494B}"/>
              </a:ext>
            </a:extLst>
          </p:cNvPr>
          <p:cNvSpPr>
            <a:spLocks noGrp="1"/>
          </p:cNvSpPr>
          <p:nvPr/>
        </p:nvSpPr>
        <p:spPr>
          <a:xfrm>
            <a:off x="4762500" y="3105150"/>
            <a:ext cx="671512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1" name="Prevent duplicate handoffs">
            <a:extLst>
              <a:ext uri="{FF2B5EF4-FFF2-40B4-BE49-F238E27FC236}">
                <a16:creationId xmlns:a16="http://schemas.microsoft.com/office/drawing/2014/main" id="{8DE782F9-A58C-4F8B-BF1D-DA62561CB782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671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Prevent duplicate handoffs</a:t>
            </a:r>
          </a:p>
        </p:txBody>
      </p:sp>
      <p:sp>
        <p:nvSpPr>
          <p:cNvPr id="12" name="Repeated actions must not create extra tasks.">
            <a:extLst>
              <a:ext uri="{FF2B5EF4-FFF2-40B4-BE49-F238E27FC236}">
                <a16:creationId xmlns:a16="http://schemas.microsoft.com/office/drawing/2014/main" id="{2A541B74-5D6C-4D6C-88F6-DA0AF9B48346}"/>
              </a:ext>
            </a:extLst>
          </p:cNvPr>
          <p:cNvSpPr>
            <a:spLocks noGrp="1"/>
          </p:cNvSpPr>
          <p:nvPr/>
        </p:nvSpPr>
        <p:spPr>
          <a:xfrm>
            <a:off x="4762500" y="3590925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Repeated actions must not create extra tasks.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08B84-9A39-4785-97CF-AD4E9A42E468}"/>
              </a:ext>
            </a:extLst>
          </p:cNvPr>
          <p:cNvSpPr>
            <a:spLocks noGrp="1"/>
          </p:cNvSpPr>
          <p:nvPr/>
        </p:nvSpPr>
        <p:spPr>
          <a:xfrm>
            <a:off x="4762500" y="4038600"/>
            <a:ext cx="671512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4" name="Keep human control">
            <a:extLst>
              <a:ext uri="{FF2B5EF4-FFF2-40B4-BE49-F238E27FC236}">
                <a16:creationId xmlns:a16="http://schemas.microsoft.com/office/drawing/2014/main" id="{758960A3-B4DF-4392-95D6-253C62E4DB97}"/>
              </a:ext>
            </a:extLst>
          </p:cNvPr>
          <p:cNvSpPr>
            <a:spLocks noGrp="1"/>
          </p:cNvSpPr>
          <p:nvPr/>
        </p:nvSpPr>
        <p:spPr>
          <a:xfrm>
            <a:off x="4762500" y="4133850"/>
            <a:ext cx="671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Keep human control</a:t>
            </a:r>
          </a:p>
        </p:txBody>
      </p:sp>
      <p:sp>
        <p:nvSpPr>
          <p:cNvPr id="15" name="Review critical decisions; prevent self-approval.">
            <a:extLst>
              <a:ext uri="{FF2B5EF4-FFF2-40B4-BE49-F238E27FC236}">
                <a16:creationId xmlns:a16="http://schemas.microsoft.com/office/drawing/2014/main" id="{31D37E93-31EB-417D-83F9-A1C014083A1E}"/>
              </a:ext>
            </a:extLst>
          </p:cNvPr>
          <p:cNvSpPr>
            <a:spLocks noGrp="1"/>
          </p:cNvSpPr>
          <p:nvPr/>
        </p:nvSpPr>
        <p:spPr>
          <a:xfrm>
            <a:off x="4762500" y="4524375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Review critical decisions; prevent self-approval.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40EDCB-80A2-452F-9F01-709D8FB34E88}"/>
              </a:ext>
            </a:extLst>
          </p:cNvPr>
          <p:cNvSpPr>
            <a:spLocks noGrp="1"/>
          </p:cNvSpPr>
          <p:nvPr/>
        </p:nvSpPr>
        <p:spPr>
          <a:xfrm>
            <a:off x="4762500" y="4972050"/>
            <a:ext cx="671512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7" name="State the remaining boundary">
            <a:extLst>
              <a:ext uri="{FF2B5EF4-FFF2-40B4-BE49-F238E27FC236}">
                <a16:creationId xmlns:a16="http://schemas.microsoft.com/office/drawing/2014/main" id="{38C6F74E-3802-4F83-94C4-8BB07DCE5D8C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671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State the remaining boundary</a:t>
            </a:r>
          </a:p>
        </p:txBody>
      </p:sp>
      <p:sp>
        <p:nvSpPr>
          <p:cNvPr id="18" name="Demo role filtering is not server-side tenant security.">
            <a:extLst>
              <a:ext uri="{FF2B5EF4-FFF2-40B4-BE49-F238E27FC236}">
                <a16:creationId xmlns:a16="http://schemas.microsoft.com/office/drawing/2014/main" id="{B8C4AFD1-632F-4349-BD45-EBDA2D8D8750}"/>
              </a:ext>
            </a:extLst>
          </p:cNvPr>
          <p:cNvSpPr>
            <a:spLocks noGrp="1"/>
          </p:cNvSpPr>
          <p:nvPr/>
        </p:nvSpPr>
        <p:spPr>
          <a:xfrm>
            <a:off x="4762500" y="5457825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Demo role filtering is not server-side tenant security.</a:t>
            </a:r>
          </a:p>
        </p:txBody>
      </p:sp>
    </p:spTree>
    <p:extLst>
      <p:ext uri="{BB962C8B-B14F-4D97-AF65-F5344CB8AC3E}">
        <p14:creationId xmlns:p14="http://schemas.microsoft.com/office/powerpoint/2010/main" val="632512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ave time. Keep people in control.">
            <a:extLst>
              <a:ext uri="{FF2B5EF4-FFF2-40B4-BE49-F238E27FC236}">
                <a16:creationId xmlns:a16="http://schemas.microsoft.com/office/drawing/2014/main" id="{CBC739CE-6167-47FC-8AB3-9E5679C9B99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Save time. Keep people in control.</a:t>
            </a:r>
          </a:p>
        </p:txBody>
      </p:sp>
      <p:sp>
        <p:nvSpPr>
          <p:cNvPr id="2" name="SDG 8.2: productivity through technology · SDG 8.3: MSME gro">
            <a:extLst>
              <a:ext uri="{FF2B5EF4-FFF2-40B4-BE49-F238E27FC236}">
                <a16:creationId xmlns:a16="http://schemas.microsoft.com/office/drawing/2014/main" id="{924381BC-4EE5-41E6-9471-428448915BE4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SDG 8.2: productivity through technology · SDG 8.3: MSME growth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858AC1C8-9CEF-4BAA-9FA9-E2845C0CAD2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30%">
            <a:extLst>
              <a:ext uri="{FF2B5EF4-FFF2-40B4-BE49-F238E27FC236}">
                <a16:creationId xmlns:a16="http://schemas.microsoft.com/office/drawing/2014/main" id="{2BC0C884-22A3-4F34-8CAE-CADD4BA28CDD}"/>
              </a:ext>
            </a:extLst>
          </p:cNvPr>
          <p:cNvSpPr>
            <a:spLocks noGrp="1"/>
          </p:cNvSpPr>
          <p:nvPr/>
        </p:nvSpPr>
        <p:spPr>
          <a:xfrm>
            <a:off x="666750" y="2257425"/>
            <a:ext cx="3381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6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5" name="lower median handling time">
            <a:extLst>
              <a:ext uri="{FF2B5EF4-FFF2-40B4-BE49-F238E27FC236}">
                <a16:creationId xmlns:a16="http://schemas.microsoft.com/office/drawing/2014/main" id="{8223119D-84A8-4498-A7DC-90D60F55A440}"/>
              </a:ext>
            </a:extLst>
          </p:cNvPr>
          <p:cNvSpPr>
            <a:spLocks noGrp="1"/>
          </p:cNvSpPr>
          <p:nvPr/>
        </p:nvSpPr>
        <p:spPr>
          <a:xfrm>
            <a:off x="666750" y="3419475"/>
            <a:ext cx="3714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lower median handling time</a:t>
            </a:r>
          </a:p>
        </p:txBody>
      </p:sp>
      <p:sp>
        <p:nvSpPr>
          <p:cNvPr id="6" name="100%">
            <a:extLst>
              <a:ext uri="{FF2B5EF4-FFF2-40B4-BE49-F238E27FC236}">
                <a16:creationId xmlns:a16="http://schemas.microsoft.com/office/drawing/2014/main" id="{3D0B19B8-43D3-4933-ACB1-093FFEB065B1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338137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10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" name="human approval coverage&#10;for critical actions">
            <a:extLst>
              <a:ext uri="{FF2B5EF4-FFF2-40B4-BE49-F238E27FC236}">
                <a16:creationId xmlns:a16="http://schemas.microsoft.com/office/drawing/2014/main" id="{1AD029AE-8708-4384-A895-FA889CC3CE8C}"/>
              </a:ext>
            </a:extLst>
          </p:cNvPr>
          <p:cNvSpPr>
            <a:spLocks noGrp="1"/>
          </p:cNvSpPr>
          <p:nvPr/>
        </p:nvSpPr>
        <p:spPr>
          <a:xfrm>
            <a:off x="666750" y="5448300"/>
            <a:ext cx="3714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human approval coverage</a:t>
            </a:r>
          </a:p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for critical actions</a:t>
            </a:r>
          </a:p>
        </p:txBody>
      </p:sp>
      <p:sp>
        <p:nvSpPr>
          <p:cNvPr id="8" name="Active handling time · minutes per request">
            <a:extLst>
              <a:ext uri="{FF2B5EF4-FFF2-40B4-BE49-F238E27FC236}">
                <a16:creationId xmlns:a16="http://schemas.microsoft.com/office/drawing/2014/main" id="{B30A02FA-80A6-43F9-95E5-272181ADC659}"/>
              </a:ext>
            </a:extLst>
          </p:cNvPr>
          <p:cNvSpPr>
            <a:spLocks noGrp="1"/>
          </p:cNvSpPr>
          <p:nvPr/>
        </p:nvSpPr>
        <p:spPr>
          <a:xfrm>
            <a:off x="4972050" y="20383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Active handling time · minutes per request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AFDB9BD9-4295-42ED-8306-43616D9FBCAE}"/>
              </a:ext>
            </a:extLst>
          </p:cNvPr>
          <p:cNvGraphicFramePr/>
          <p:nvPr/>
        </p:nvGraphicFramePr>
        <p:xfrm>
          <a:off x="4762500" y="2190750"/>
          <a:ext cx="6572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Illustrative 10 → 7 minutes; reduction is a target, not a re">
            <a:extLst>
              <a:ext uri="{FF2B5EF4-FFF2-40B4-BE49-F238E27FC236}">
                <a16:creationId xmlns:a16="http://schemas.microsoft.com/office/drawing/2014/main" id="{6D992FB7-5242-46B0-BD92-633BC3CB19E8}"/>
              </a:ext>
            </a:extLst>
          </p:cNvPr>
          <p:cNvSpPr>
            <a:spLocks noGrp="1"/>
          </p:cNvSpPr>
          <p:nvPr/>
        </p:nvSpPr>
        <p:spPr>
          <a:xfrm>
            <a:off x="4972050" y="5553075"/>
            <a:ext cx="6334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Illustrative 10 → 7 minutes; reduction is a target, not a result.</a:t>
            </a:r>
          </a:p>
          <a:p>
            <a: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Replace the estimate with observed manual timings.</a:t>
            </a:r>
          </a:p>
        </p:txBody>
      </p:sp>
    </p:spTree>
    <p:extLst>
      <p:ext uri="{BB962C8B-B14F-4D97-AF65-F5344CB8AC3E}">
        <p14:creationId xmlns:p14="http://schemas.microsoft.com/office/powerpoint/2010/main" val="82400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om working prototype to a trusted pilot.">
            <a:extLst>
              <a:ext uri="{FF2B5EF4-FFF2-40B4-BE49-F238E27FC236}">
                <a16:creationId xmlns:a16="http://schemas.microsoft.com/office/drawing/2014/main" id="{2FF5A210-CCAE-471F-9F9F-B4EC4382E8B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From working prototype to a trusted pilot.</a:t>
            </a:r>
          </a:p>
        </p:txBody>
      </p:sp>
      <p:sp>
        <p:nvSpPr>
          <p:cNvPr id="2" name="Phase 2: prove one end-to-end workflow before expanding the ">
            <a:extLst>
              <a:ext uri="{FF2B5EF4-FFF2-40B4-BE49-F238E27FC236}">
                <a16:creationId xmlns:a16="http://schemas.microsoft.com/office/drawing/2014/main" id="{20C76E3C-6FCC-467A-AD6A-E7335D001C21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Phase 2: prove one end-to-end workflow before expanding the platform.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C8D8C660-135E-4322-9182-5F55E00EF1E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01 / UNDERSTAND">
            <a:extLst>
              <a:ext uri="{FF2B5EF4-FFF2-40B4-BE49-F238E27FC236}">
                <a16:creationId xmlns:a16="http://schemas.microsoft.com/office/drawing/2014/main" id="{AB7F8DBB-8DEE-49AA-BAD9-02C3D1E0AD23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01 / UNDERSTAND</a:t>
            </a:r>
          </a:p>
        </p:txBody>
      </p:sp>
      <p:sp>
        <p:nvSpPr>
          <p:cNvPr id="5" name="Observe real&#10;request handling.">
            <a:extLst>
              <a:ext uri="{FF2B5EF4-FFF2-40B4-BE49-F238E27FC236}">
                <a16:creationId xmlns:a16="http://schemas.microsoft.com/office/drawing/2014/main" id="{DC8D8CD1-7B20-49BC-A6D9-17B9EE7A5602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Observe real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request handling.</a:t>
            </a:r>
          </a:p>
        </p:txBody>
      </p:sp>
      <p:sp>
        <p:nvSpPr>
          <p:cNvPr id="6" name="At least 5 target users. Measure the manual baseline and rem">
            <a:extLst>
              <a:ext uri="{FF2B5EF4-FFF2-40B4-BE49-F238E27FC236}">
                <a16:creationId xmlns:a16="http://schemas.microsoft.com/office/drawing/2014/main" id="{AAB3DFA8-D98E-443C-9FE7-08F30B438323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At least 5 target users. Measure the manual baseline and remove points of confusion.</a:t>
            </a:r>
          </a:p>
        </p:txBody>
      </p:sp>
      <p:sp>
        <p:nvSpPr>
          <p:cNvPr id="7" name="02 / HARDEN">
            <a:extLst>
              <a:ext uri="{FF2B5EF4-FFF2-40B4-BE49-F238E27FC236}">
                <a16:creationId xmlns:a16="http://schemas.microsoft.com/office/drawing/2014/main" id="{A80B292B-C2F9-4F4B-A2E5-30D03DAB057B}"/>
              </a:ext>
            </a:extLst>
          </p:cNvPr>
          <p:cNvSpPr>
            <a:spLocks noGrp="1"/>
          </p:cNvSpPr>
          <p:nvPr/>
        </p:nvSpPr>
        <p:spPr>
          <a:xfrm>
            <a:off x="4524375" y="23241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02 / HARDEN</a:t>
            </a:r>
          </a:p>
        </p:txBody>
      </p:sp>
      <p:sp>
        <p:nvSpPr>
          <p:cNvPr id="8" name="Make shared&#10;work safe.">
            <a:extLst>
              <a:ext uri="{FF2B5EF4-FFF2-40B4-BE49-F238E27FC236}">
                <a16:creationId xmlns:a16="http://schemas.microsoft.com/office/drawing/2014/main" id="{452E3DBD-013C-4729-A7A6-C1EE676FD9D5}"/>
              </a:ext>
            </a:extLst>
          </p:cNvPr>
          <p:cNvSpPr>
            <a:spLocks noGrp="1"/>
          </p:cNvSpPr>
          <p:nvPr/>
        </p:nvSpPr>
        <p:spPr>
          <a:xfrm>
            <a:off x="4524375" y="2762250"/>
            <a:ext cx="333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Make shared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work safe.</a:t>
            </a:r>
          </a:p>
        </p:txBody>
      </p:sp>
      <p:sp>
        <p:nvSpPr>
          <p:cNvPr id="9" name="Server-side identity, company permissions, a shared transact">
            <a:extLst>
              <a:ext uri="{FF2B5EF4-FFF2-40B4-BE49-F238E27FC236}">
                <a16:creationId xmlns:a16="http://schemas.microsoft.com/office/drawing/2014/main" id="{EB866439-FE6E-45A9-9F6C-3B7F86F36B5D}"/>
              </a:ext>
            </a:extLst>
          </p:cNvPr>
          <p:cNvSpPr>
            <a:spLocks noGrp="1"/>
          </p:cNvSpPr>
          <p:nvPr/>
        </p:nvSpPr>
        <p:spPr>
          <a:xfrm>
            <a:off x="4524375" y="3648075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Server-side identity, company permissions, a shared transactional database and recovery.</a:t>
            </a:r>
          </a:p>
        </p:txBody>
      </p:sp>
      <p:sp>
        <p:nvSpPr>
          <p:cNvPr id="10" name="03 / VALIDATE">
            <a:extLst>
              <a:ext uri="{FF2B5EF4-FFF2-40B4-BE49-F238E27FC236}">
                <a16:creationId xmlns:a16="http://schemas.microsoft.com/office/drawing/2014/main" id="{A154DEE2-EF53-47B4-A846-8C0E56B4048A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03 / VALIDATE</a:t>
            </a:r>
          </a:p>
        </p:txBody>
      </p:sp>
      <p:sp>
        <p:nvSpPr>
          <p:cNvPr id="11" name="Test the&#10;complete handoff.">
            <a:extLst>
              <a:ext uri="{FF2B5EF4-FFF2-40B4-BE49-F238E27FC236}">
                <a16:creationId xmlns:a16="http://schemas.microsoft.com/office/drawing/2014/main" id="{AE4F1754-0FB5-4713-9E18-D4CC932894A3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30956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Test the</a:t>
            </a:r>
          </a:p>
          <a:p>
            <a:pPr>
              <a:defRPr sz="23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complete handoff.</a:t>
            </a:r>
          </a:p>
        </p:txBody>
      </p:sp>
      <p:sp>
        <p:nvSpPr>
          <p:cNvPr id="12" name="30 matched task pairs. Measure time, missing fields, complet">
            <a:extLst>
              <a:ext uri="{FF2B5EF4-FFF2-40B4-BE49-F238E27FC236}">
                <a16:creationId xmlns:a16="http://schemas.microsoft.com/office/drawing/2014/main" id="{3BC06C23-81DE-4882-BB0D-6BAD4649608F}"/>
              </a:ext>
            </a:extLst>
          </p:cNvPr>
          <p:cNvSpPr>
            <a:spLocks noGrp="1"/>
          </p:cNvSpPr>
          <p:nvPr/>
        </p:nvSpPr>
        <p:spPr>
          <a:xfrm>
            <a:off x="8382000" y="3648075"/>
            <a:ext cx="309562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30 matched task pairs. Measure time, missing fields, completion and approval coverage.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AD3A0E-C2CB-4044-898C-AE2F13FE8494}"/>
              </a:ext>
            </a:extLst>
          </p:cNvPr>
          <p:cNvSpPr>
            <a:spLocks noGrp="1"/>
          </p:cNvSpPr>
          <p:nvPr/>
        </p:nvSpPr>
        <p:spPr>
          <a:xfrm>
            <a:off x="666750" y="5591175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4" name="Integration gate: connect one authorised business channel, t">
            <a:extLst>
              <a:ext uri="{FF2B5EF4-FFF2-40B4-BE49-F238E27FC236}">
                <a16:creationId xmlns:a16="http://schemas.microsoft.com/office/drawing/2014/main" id="{3CF2E99E-70FD-446E-AAFE-F5908B970BD6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Integration gate: connect one authorised business channel, then test failure and retry paths.</a:t>
            </a:r>
          </a:p>
        </p:txBody>
      </p:sp>
    </p:spTree>
    <p:extLst>
      <p:ext uri="{BB962C8B-B14F-4D97-AF65-F5344CB8AC3E}">
        <p14:creationId xmlns:p14="http://schemas.microsoft.com/office/powerpoint/2010/main" val="193371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61A2B53-23F7-4656-9D3C-6F133B3A1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Less chasing.&#10;Clearer decisions.">
            <a:extLst>
              <a:ext uri="{FF2B5EF4-FFF2-40B4-BE49-F238E27FC236}">
                <a16:creationId xmlns:a16="http://schemas.microsoft.com/office/drawing/2014/main" id="{2574B3C6-0D88-4137-9183-9FB239F743DC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6858000" cy="1733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Less chasing.</a:t>
            </a:r>
          </a:p>
          <a:p>
            <a:pPr>
              <a:defRPr sz="4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Clearer decisions.</a:t>
            </a:r>
          </a:p>
        </p:txBody>
      </p:sp>
      <p:sp>
        <p:nvSpPr>
          <p:cNvPr id="3" name="Nexus">
            <a:extLst>
              <a:ext uri="{FF2B5EF4-FFF2-40B4-BE49-F238E27FC236}">
                <a16:creationId xmlns:a16="http://schemas.microsoft.com/office/drawing/2014/main" id="{B135289D-D8CC-4847-88CF-653210263737}"/>
              </a:ext>
            </a:extLst>
          </p:cNvPr>
          <p:cNvSpPr>
            <a:spLocks noGrp="1"/>
          </p:cNvSpPr>
          <p:nvPr/>
        </p:nvSpPr>
        <p:spPr>
          <a:xfrm>
            <a:off x="714375" y="34290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900" b="1">
                <a:solidFill>
                  <a:srgbClr val="0071E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71E3"/>
                </a:solidFill>
                <a:latin typeface="Arial"/>
                <a:ea typeface="Arial"/>
                <a:cs typeface="Arial"/>
              </a:rPr>
              <a:t>Nexus</a:t>
            </a:r>
          </a:p>
        </p:txBody>
      </p:sp>
      <p:sp>
        <p:nvSpPr>
          <p:cNvPr id="4" name="Live prototype">
            <a:extLst>
              <a:ext uri="{FF2B5EF4-FFF2-40B4-BE49-F238E27FC236}">
                <a16:creationId xmlns:a16="http://schemas.microsoft.com/office/drawing/2014/main" id="{2ADC4D44-43E3-46A4-BAAC-6D7C7DDB43B0}"/>
              </a:ext>
            </a:extLst>
          </p:cNvPr>
          <p:cNvSpPr>
            <a:spLocks noGrp="1"/>
          </p:cNvSpPr>
          <p:nvPr/>
        </p:nvSpPr>
        <p:spPr>
          <a:xfrm>
            <a:off x="733425" y="4371975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5" name="nexus-nailong-2026.d7ystszcjf.chatgpt.site/">
            <a:extLst>
              <a:ext uri="{FF2B5EF4-FFF2-40B4-BE49-F238E27FC236}">
                <a16:creationId xmlns:a16="http://schemas.microsoft.com/office/drawing/2014/main" id="{A42AAD64-8B95-4205-8321-D242223678D2}"/>
              </a:ext>
            </a:extLst>
          </p:cNvPr>
          <p:cNvSpPr>
            <a:spLocks noGrp="1"/>
          </p:cNvSpPr>
          <p:nvPr/>
        </p:nvSpPr>
        <p:spPr>
          <a:xfrm>
            <a:off x="733425" y="4772025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nexus-nailong-2026.d7ystszcjf.chatgpt.site/</a:t>
            </a:r>
          </a:p>
        </p:txBody>
      </p:sp>
      <p:sp>
        <p:nvSpPr>
          <p:cNvPr id="6" name="TEAM NAILONG  ·  XIAMEN UNIVERSITY MALAYSIA">
            <a:extLst>
              <a:ext uri="{FF2B5EF4-FFF2-40B4-BE49-F238E27FC236}">
                <a16:creationId xmlns:a16="http://schemas.microsoft.com/office/drawing/2014/main" id="{365D594A-F851-4860-AA2D-E480B35435C5}"/>
              </a:ext>
            </a:extLst>
          </p:cNvPr>
          <p:cNvSpPr>
            <a:spLocks noGrp="1"/>
          </p:cNvSpPr>
          <p:nvPr/>
        </p:nvSpPr>
        <p:spPr>
          <a:xfrm>
            <a:off x="733425" y="553402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TEAM NAILONG  ·  XIAMEN UNIVERSITY MALAYSIA</a:t>
            </a:r>
          </a:p>
        </p:txBody>
      </p:sp>
      <p:sp>
        <p:nvSpPr>
          <p:cNvPr id="7" name="LING YUXUAN (Leader)  ·  LI JUNZHANG&#10;XIE WEIYE  ·  HU ZHAOMI">
            <a:extLst>
              <a:ext uri="{FF2B5EF4-FFF2-40B4-BE49-F238E27FC236}">
                <a16:creationId xmlns:a16="http://schemas.microsoft.com/office/drawing/2014/main" id="{E27C2261-5AB1-4F82-B211-7B645CDFB25C}"/>
              </a:ext>
            </a:extLst>
          </p:cNvPr>
          <p:cNvSpPr>
            <a:spLocks noGrp="1"/>
          </p:cNvSpPr>
          <p:nvPr/>
        </p:nvSpPr>
        <p:spPr>
          <a:xfrm>
            <a:off x="733425" y="5934075"/>
            <a:ext cx="80962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LING YUXUAN (Leader)  ·  LI JUNZHANG</a:t>
            </a:r>
          </a:p>
          <a:p>
            <a:pPr>
              <a:defRPr sz="157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XIE WEIYE  ·  HU ZHAOMING</a:t>
            </a:r>
          </a:p>
        </p:txBody>
      </p:sp>
    </p:spTree>
    <p:extLst>
      <p:ext uri="{BB962C8B-B14F-4D97-AF65-F5344CB8AC3E}">
        <p14:creationId xmlns:p14="http://schemas.microsoft.com/office/powerpoint/2010/main" val="1809600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ppendix · What is actually connected?">
            <a:extLst>
              <a:ext uri="{FF2B5EF4-FFF2-40B4-BE49-F238E27FC236}">
                <a16:creationId xmlns:a16="http://schemas.microsoft.com/office/drawing/2014/main" id="{BFE21A7A-7E7C-47A7-8433-C367996F422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Appendix · What is actually connected?</a:t>
            </a:r>
          </a:p>
        </p:txBody>
      </p:sp>
      <p:sp>
        <p:nvSpPr>
          <p:cNvPr id="2" name="Current resource inventory, not a list of future integration">
            <a:extLst>
              <a:ext uri="{FF2B5EF4-FFF2-40B4-BE49-F238E27FC236}">
                <a16:creationId xmlns:a16="http://schemas.microsoft.com/office/drawing/2014/main" id="{35E7729D-3C91-49D3-A546-45E31D1FDCC6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Current resource inventory, not a list of future integrations.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7F32326B-1D41-4951-90DA-4948032E838F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26AD1F-9E77-4EED-90FA-235D5863C61E}"/>
              </a:ext>
            </a:extLst>
          </p:cNvPr>
          <p:cNvGraphicFramePr/>
          <p:nvPr/>
        </p:nvGraphicFramePr>
        <p:xfrm>
          <a:off x="628650" y="2286000"/>
          <a:ext cx="10906125" cy="352860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>
                      <a:solidFill>
                        <a:srgbClr val="D9DFE7"/>
                      </a:solidFill>
                      <a:prstDash val="soli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Current use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>
                      <a:solidFill>
                        <a:srgbClr val="D9DFE7"/>
                      </a:solidFill>
                      <a:prstDash val="soli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>
                      <a:solidFill>
                        <a:srgbClr val="D9DFE7"/>
                      </a:solidFill>
                      <a:prstDash val="soli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Sites / Cloudflare Worker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Hosts frontend and AI endpoint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Deployed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OpenAI · gpt-4.1-mini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Requirement extraction + reply draft adapter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Integrated; credit-blocked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Browser localStorage / D1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Business demo data / AI counters respectively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Implemented; separate stores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Local XLSX / CSV · fflate 0.8.3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Browser-side resource-table analysis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Replit premium / VIP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SDC-provided development and testing access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Used; not the current live host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WhatsApp / Microsoft Graph / RunPod</a:t>
                      </a:r>
                    </a:p>
                  </a:txBody>
                  <a:tcPr>
                    <a:lnL w="9525">
                      <a:solidFill>
                        <a:srgbClr val="D9DFE7"/>
                      </a:solidFill>
                      <a:prstDash val="soli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No live connection; no RunPod usage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32"/>
                          </a:solidFill>
                          <a:latin typeface="Arial"/>
                          <a:ea typeface="Arial"/>
                          <a:cs typeface="Arial"/>
                        </a:rPr>
                        <a:t>Not used / not connected</a:t>
                      </a:r>
                    </a:p>
                  </a:txBody>
                  <a:tcPr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FE7"/>
                      </a:solidFill>
                      <a:prstDash val="soli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7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I-assisted development: OpenAI ChatGPT / Codex. No claim of">
            <a:extLst>
              <a:ext uri="{FF2B5EF4-FFF2-40B4-BE49-F238E27FC236}">
                <a16:creationId xmlns:a16="http://schemas.microsoft.com/office/drawing/2014/main" id="{7FE417FB-21E8-4D6B-A4B8-C3DADEF2D36C}"/>
              </a:ext>
            </a:extLst>
          </p:cNvPr>
          <p:cNvSpPr>
            <a:spLocks noGrp="1"/>
          </p:cNvSpPr>
          <p:nvPr/>
        </p:nvSpPr>
        <p:spPr>
          <a:xfrm>
            <a:off x="666750" y="60198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AI-assisted development: OpenAI ChatGPT / Codex. No claim of RunPod use or an organiser waiver.</a:t>
            </a:r>
          </a:p>
        </p:txBody>
      </p:sp>
    </p:spTree>
    <p:extLst>
      <p:ext uri="{BB962C8B-B14F-4D97-AF65-F5344CB8AC3E}">
        <p14:creationId xmlns:p14="http://schemas.microsoft.com/office/powerpoint/2010/main" val="540598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ppendix · Evidence &amp; recording guide">
            <a:extLst>
              <a:ext uri="{FF2B5EF4-FFF2-40B4-BE49-F238E27FC236}">
                <a16:creationId xmlns:a16="http://schemas.microsoft.com/office/drawing/2014/main" id="{C07AADF7-9FA2-4D3D-8102-0D4708DD0AB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Appendix · Evidence &amp; recording guide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6B3CC4CB-3C5E-42C2-899F-6A5FC1E5B69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47F0E-9709-40EE-B35A-C0402204494C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4" name="Competition requirements">
            <a:extLst>
              <a:ext uri="{FF2B5EF4-FFF2-40B4-BE49-F238E27FC236}">
                <a16:creationId xmlns:a16="http://schemas.microsoft.com/office/drawing/2014/main" id="{B4939F89-9844-47DE-9B01-21C9B140F721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Competition requirements</a:t>
            </a:r>
          </a:p>
        </p:txBody>
      </p:sp>
      <p:sp>
        <p:nvSpPr>
          <p:cNvPr id="5" name="Official Participant Handbook, §6.3.5.2 and §6.3.5.6:&#10;proble">
            <a:extLst>
              <a:ext uri="{FF2B5EF4-FFF2-40B4-BE49-F238E27FC236}">
                <a16:creationId xmlns:a16="http://schemas.microsoft.com/office/drawing/2014/main" id="{09FD09DC-C385-4215-A72B-EC99BFB9681E}"/>
              </a:ext>
            </a:extLst>
          </p:cNvPr>
          <p:cNvSpPr>
            <a:spLocks noGrp="1"/>
          </p:cNvSpPr>
          <p:nvPr/>
        </p:nvSpPr>
        <p:spPr>
          <a:xfrm>
            <a:off x="3714750" y="1962150"/>
            <a:ext cx="7715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Official Participant Handbook, §6.3.5.2 and §6.3.5.6:</a:t>
            </a:r>
          </a:p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problem, solution, technical approach, impact; 5–7-minute video.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BC716F-7756-4149-B746-7205CD655FA0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7" name="Product &amp; technical evidence">
            <a:extLst>
              <a:ext uri="{FF2B5EF4-FFF2-40B4-BE49-F238E27FC236}">
                <a16:creationId xmlns:a16="http://schemas.microsoft.com/office/drawing/2014/main" id="{C7FD0B22-8331-40A5-ABD9-0BAA222C51B5}"/>
              </a:ext>
            </a:extLst>
          </p:cNvPr>
          <p:cNvSpPr>
            <a:spLocks noGrp="1"/>
          </p:cNvSpPr>
          <p:nvPr/>
        </p:nvSpPr>
        <p:spPr>
          <a:xfrm>
            <a:off x="666750" y="2981325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Product &amp; technical evidence</a:t>
            </a:r>
          </a:p>
        </p:txBody>
      </p:sp>
      <p:sp>
        <p:nvSpPr>
          <p:cNvPr id="8" name="Repository branch feat/nexus-mvp; architecture, customer-flo">
            <a:extLst>
              <a:ext uri="{FF2B5EF4-FFF2-40B4-BE49-F238E27FC236}">
                <a16:creationId xmlns:a16="http://schemas.microsoft.com/office/drawing/2014/main" id="{7FFD677B-9C6C-4D9C-936B-B53FEFFAC7DA}"/>
              </a:ext>
            </a:extLst>
          </p:cNvPr>
          <p:cNvSpPr>
            <a:spLocks noGrp="1"/>
          </p:cNvSpPr>
          <p:nvPr/>
        </p:nvSpPr>
        <p:spPr>
          <a:xfrm>
            <a:off x="3714750" y="2981325"/>
            <a:ext cx="7715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Repository branch feat/nexus-mvp; architecture, customer-flow,</a:t>
            </a:r>
          </a:p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AI-integration and Excel/WhatsApp notes. Screens show synthetic data.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15040F-44E2-4C62-8237-4E4ECAC832C1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0" name="Impact basis">
            <a:extLst>
              <a:ext uri="{FF2B5EF4-FFF2-40B4-BE49-F238E27FC236}">
                <a16:creationId xmlns:a16="http://schemas.microsoft.com/office/drawing/2014/main" id="{BE14A5AC-E532-4847-8D0A-2ADA4884704B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Impact basis</a:t>
            </a:r>
          </a:p>
        </p:txBody>
      </p:sp>
      <p:sp>
        <p:nvSpPr>
          <p:cNvPr id="11" name="UN SDG 8.2 / 8.3. Ten-minute baseline is a team estimate;&#10;30">
            <a:extLst>
              <a:ext uri="{FF2B5EF4-FFF2-40B4-BE49-F238E27FC236}">
                <a16:creationId xmlns:a16="http://schemas.microsoft.com/office/drawing/2014/main" id="{AFDE236E-E4AF-425C-8AA4-7FF64EBF0E1C}"/>
              </a:ext>
            </a:extLst>
          </p:cNvPr>
          <p:cNvSpPr>
            <a:spLocks noGrp="1"/>
          </p:cNvSpPr>
          <p:nvPr/>
        </p:nvSpPr>
        <p:spPr>
          <a:xfrm>
            <a:off x="3714750" y="4000500"/>
            <a:ext cx="7715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UN SDG 8.2 / 8.3. Ten-minute baseline is a team estimate;</a:t>
            </a:r>
          </a:p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30% reduction and 100% approval coverage are Phase 2 targets.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C1636C-9239-47A8-A3BB-35EA382972B7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0810875" cy="9525"/>
          </a:xfrm>
          <a:prstGeom prst="rect">
            <a:avLst/>
          </a:prstGeom>
          <a:solidFill>
            <a:srgbClr val="D9DFE7"/>
          </a:solidFill>
          <a:ln w="0">
            <a:noFill/>
          </a:ln>
        </p:spPr>
      </p:sp>
      <p:sp>
        <p:nvSpPr>
          <p:cNvPr id="13" name="Suggested recording">
            <a:extLst>
              <a:ext uri="{FF2B5EF4-FFF2-40B4-BE49-F238E27FC236}">
                <a16:creationId xmlns:a16="http://schemas.microsoft.com/office/drawing/2014/main" id="{32A7BA3F-8CE2-4AA7-B943-BD3F437A612F}"/>
              </a:ext>
            </a:extLst>
          </p:cNvPr>
          <p:cNvSpPr>
            <a:spLocks noGrp="1"/>
          </p:cNvSpPr>
          <p:nvPr/>
        </p:nvSpPr>
        <p:spPr>
          <a:xfrm>
            <a:off x="666750" y="5019675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21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32"/>
                </a:solidFill>
                <a:latin typeface="Arial"/>
                <a:ea typeface="Arial"/>
                <a:cs typeface="Arial"/>
              </a:rPr>
              <a:t>Suggested recording</a:t>
            </a:r>
          </a:p>
        </p:txBody>
      </p:sp>
      <p:sp>
        <p:nvSpPr>
          <p:cNvPr id="14" name="12 core slides, approximately 6½ minutes including the produ">
            <a:extLst>
              <a:ext uri="{FF2B5EF4-FFF2-40B4-BE49-F238E27FC236}">
                <a16:creationId xmlns:a16="http://schemas.microsoft.com/office/drawing/2014/main" id="{DDDF13BE-2B10-4B2A-86C6-E411E3190672}"/>
              </a:ext>
            </a:extLst>
          </p:cNvPr>
          <p:cNvSpPr>
            <a:spLocks noGrp="1"/>
          </p:cNvSpPr>
          <p:nvPr/>
        </p:nvSpPr>
        <p:spPr>
          <a:xfrm>
            <a:off x="3714750" y="5019675"/>
            <a:ext cx="7715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12 core slides, approximately 6½ minutes including the product demo.</a:t>
            </a:r>
          </a:p>
          <a:p>
            <a:pPr>
              <a:defRPr sz="1800" b="0">
                <a:solidFill>
                  <a:srgbClr val="5E6B7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E"/>
                </a:solidFill>
                <a:latin typeface="Arial"/>
                <a:ea typeface="Arial"/>
                <a:cs typeface="Arial"/>
              </a:rPr>
              <a:t>Appendices are for reference. Use screenshots if the live demo fails.</a:t>
            </a:r>
          </a:p>
        </p:txBody>
      </p:sp>
    </p:spTree>
    <p:extLst>
      <p:ext uri="{BB962C8B-B14F-4D97-AF65-F5344CB8AC3E}">
        <p14:creationId xmlns:p14="http://schemas.microsoft.com/office/powerpoint/2010/main" val="41220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Macintosh PowerPoint</Application>
  <DocSecurity>0</DocSecurity>
  <PresentationFormat>宽屏</PresentationFormat>
  <Paragraphs>187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凌宇轩</cp:lastModifiedBy>
  <cp:revision>1</cp:revision>
  <dcterms:created xsi:type="dcterms:W3CDTF">2026-10-24T14:20:29Z</dcterms:created>
  <dcterms:modified xsi:type="dcterms:W3CDTF">2026-10-24T14:25:15Z</dcterms:modified>
</cp:coreProperties>
</file>